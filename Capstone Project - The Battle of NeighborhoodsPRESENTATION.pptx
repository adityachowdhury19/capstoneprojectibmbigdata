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5" autoAdjust="0"/>
    <p:restoredTop sz="94660"/>
  </p:normalViewPr>
  <p:slideViewPr>
    <p:cSldViewPr snapToGrid="0">
      <p:cViewPr varScale="1">
        <p:scale>
          <a:sx n="41" d="100"/>
          <a:sy n="41" d="100"/>
        </p:scale>
        <p:origin x="720"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OTT W. Davis" userId="e3a796bfc1d95105" providerId="Windows Live" clId="Web-{C325C070-9C41-464E-9CE5-DC7D9635D5CF}"/>
    <pc:docChg chg="modSld">
      <pc:chgData name="SCOTT W. Davis" userId="e3a796bfc1d95105" providerId="Windows Live" clId="Web-{C325C070-9C41-464E-9CE5-DC7D9635D5CF}" dt="2018-11-16T07:49:55.791" v="103" actId="20577"/>
      <pc:docMkLst>
        <pc:docMk/>
      </pc:docMkLst>
      <pc:sldChg chg="modSp">
        <pc:chgData name="SCOTT W. Davis" userId="e3a796bfc1d95105" providerId="Windows Live" clId="Web-{C325C070-9C41-464E-9CE5-DC7D9635D5CF}" dt="2018-11-16T07:49:53.759" v="101" actId="20577"/>
        <pc:sldMkLst>
          <pc:docMk/>
          <pc:sldMk cId="2288046035" sldId="256"/>
        </pc:sldMkLst>
        <pc:spChg chg="mod">
          <ac:chgData name="SCOTT W. Davis" userId="e3a796bfc1d95105" providerId="Windows Live" clId="Web-{C325C070-9C41-464E-9CE5-DC7D9635D5CF}" dt="2018-11-16T07:49:53.759" v="101" actId="20577"/>
          <ac:spMkLst>
            <pc:docMk/>
            <pc:sldMk cId="2288046035" sldId="256"/>
            <ac:spMk id="2" creationId="{00000000-0000-0000-0000-000000000000}"/>
          </ac:spMkLst>
        </pc:spChg>
        <pc:spChg chg="mod">
          <ac:chgData name="SCOTT W. Davis" userId="e3a796bfc1d95105" providerId="Windows Live" clId="Web-{C325C070-9C41-464E-9CE5-DC7D9635D5CF}" dt="2018-11-16T07:49:43.587" v="96" actId="20577"/>
          <ac:spMkLst>
            <pc:docMk/>
            <pc:sldMk cId="2288046035" sldId="256"/>
            <ac:spMk id="3"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C9A600-04CD-4590-89C1-BF43DBF37669}" type="doc">
      <dgm:prSet loTypeId="urn:microsoft.com/office/officeart/2005/8/layout/process2" loCatId="process" qsTypeId="urn:microsoft.com/office/officeart/2005/8/quickstyle/simple1" qsCatId="simple" csTypeId="urn:microsoft.com/office/officeart/2005/8/colors/accent1_2" csCatId="accent1" phldr="1"/>
      <dgm:spPr/>
    </dgm:pt>
    <dgm:pt modelId="{731B0D0D-9999-438C-8940-820B8FF90D3B}">
      <dgm:prSet phldrT="[Text]" custT="1"/>
      <dgm:spPr/>
      <dgm:t>
        <a:bodyPr/>
        <a:lstStyle/>
        <a:p>
          <a:pPr algn="ctr"/>
          <a:r>
            <a:rPr lang="en-US" sz="1600" dirty="0">
              <a:latin typeface="Times New Roman" panose="02020603050405020304" pitchFamily="18" charset="0"/>
              <a:cs typeface="Times New Roman" panose="02020603050405020304" pitchFamily="18" charset="0"/>
            </a:rPr>
            <a:t>Collect Inspection Data</a:t>
          </a:r>
        </a:p>
      </dgm:t>
    </dgm:pt>
    <dgm:pt modelId="{DC8C621B-0AAA-4DB3-B342-DE76CC401BA8}" type="parTrans" cxnId="{EE5BEBEC-76D9-485F-AD49-EC41A61DEA86}">
      <dgm:prSet/>
      <dgm:spPr/>
      <dgm:t>
        <a:bodyPr/>
        <a:lstStyle/>
        <a:p>
          <a:pPr algn="ctr"/>
          <a:endParaRPr lang="en-US" sz="1200">
            <a:latin typeface="Times New Roman" panose="02020603050405020304" pitchFamily="18" charset="0"/>
            <a:cs typeface="Times New Roman" panose="02020603050405020304" pitchFamily="18" charset="0"/>
          </a:endParaRPr>
        </a:p>
      </dgm:t>
    </dgm:pt>
    <dgm:pt modelId="{471A91D1-D7E9-4F0B-8978-AFE45FFFC104}" type="sibTrans" cxnId="{EE5BEBEC-76D9-485F-AD49-EC41A61DEA86}">
      <dgm:prSet custT="1"/>
      <dgm:spPr/>
      <dgm:t>
        <a:bodyPr/>
        <a:lstStyle/>
        <a:p>
          <a:pPr algn="ctr"/>
          <a:endParaRPr lang="en-US" sz="1200">
            <a:latin typeface="Times New Roman" panose="02020603050405020304" pitchFamily="18" charset="0"/>
            <a:cs typeface="Times New Roman" panose="02020603050405020304" pitchFamily="18" charset="0"/>
          </a:endParaRPr>
        </a:p>
      </dgm:t>
    </dgm:pt>
    <dgm:pt modelId="{74912E07-1389-4339-BB72-D5897C178F56}">
      <dgm:prSet phldrT="[Text]" custT="1"/>
      <dgm:spPr/>
      <dgm:t>
        <a:bodyPr/>
        <a:lstStyle/>
        <a:p>
          <a:pPr algn="ctr"/>
          <a:r>
            <a:rPr lang="en-US" sz="1600" dirty="0">
              <a:latin typeface="Times New Roman" panose="02020603050405020304" pitchFamily="18" charset="0"/>
              <a:cs typeface="Times New Roman" panose="02020603050405020304" pitchFamily="18" charset="0"/>
            </a:rPr>
            <a:t>Explore and Understand the Data</a:t>
          </a:r>
        </a:p>
      </dgm:t>
    </dgm:pt>
    <dgm:pt modelId="{4C7DA21F-F216-47D9-8CB8-5291D965D565}" type="parTrans" cxnId="{F79C255F-BF63-4A89-99FF-BF31F068D46B}">
      <dgm:prSet/>
      <dgm:spPr/>
      <dgm:t>
        <a:bodyPr/>
        <a:lstStyle/>
        <a:p>
          <a:pPr algn="ctr"/>
          <a:endParaRPr lang="en-US" sz="1200">
            <a:latin typeface="Times New Roman" panose="02020603050405020304" pitchFamily="18" charset="0"/>
            <a:cs typeface="Times New Roman" panose="02020603050405020304" pitchFamily="18" charset="0"/>
          </a:endParaRPr>
        </a:p>
      </dgm:t>
    </dgm:pt>
    <dgm:pt modelId="{7F37D3DD-CAEA-466D-9900-8CCFF1F3CA33}" type="sibTrans" cxnId="{F79C255F-BF63-4A89-99FF-BF31F068D46B}">
      <dgm:prSet custT="1"/>
      <dgm:spPr/>
      <dgm:t>
        <a:bodyPr/>
        <a:lstStyle/>
        <a:p>
          <a:pPr algn="ctr"/>
          <a:endParaRPr lang="en-US" sz="1200">
            <a:latin typeface="Times New Roman" panose="02020603050405020304" pitchFamily="18" charset="0"/>
            <a:cs typeface="Times New Roman" panose="02020603050405020304" pitchFamily="18" charset="0"/>
          </a:endParaRPr>
        </a:p>
      </dgm:t>
    </dgm:pt>
    <dgm:pt modelId="{63A8844C-C793-484D-95B1-2A8EBF1DD4E4}">
      <dgm:prSet phldrT="[Text]" custT="1"/>
      <dgm:spPr/>
      <dgm:t>
        <a:bodyPr/>
        <a:lstStyle/>
        <a:p>
          <a:pPr algn="ctr"/>
          <a:r>
            <a:rPr lang="en-US" sz="1600">
              <a:latin typeface="Times New Roman" panose="02020603050405020304" pitchFamily="18" charset="0"/>
              <a:cs typeface="Times New Roman" panose="02020603050405020304" pitchFamily="18" charset="0"/>
            </a:rPr>
            <a:t>Data preparation and preprocessing</a:t>
          </a:r>
        </a:p>
      </dgm:t>
    </dgm:pt>
    <dgm:pt modelId="{0352D2FC-2EB9-48BB-867F-BBC35693F9CE}" type="parTrans" cxnId="{C55DB9FF-D1F2-4087-91A5-596DC3174773}">
      <dgm:prSet/>
      <dgm:spPr/>
      <dgm:t>
        <a:bodyPr/>
        <a:lstStyle/>
        <a:p>
          <a:pPr algn="ctr"/>
          <a:endParaRPr lang="en-US" sz="1200">
            <a:latin typeface="Times New Roman" panose="02020603050405020304" pitchFamily="18" charset="0"/>
            <a:cs typeface="Times New Roman" panose="02020603050405020304" pitchFamily="18" charset="0"/>
          </a:endParaRPr>
        </a:p>
      </dgm:t>
    </dgm:pt>
    <dgm:pt modelId="{BE09D47D-94D5-4FDE-9B88-DF066CDC2E9D}" type="sibTrans" cxnId="{C55DB9FF-D1F2-4087-91A5-596DC3174773}">
      <dgm:prSet custT="1"/>
      <dgm:spPr/>
      <dgm:t>
        <a:bodyPr/>
        <a:lstStyle/>
        <a:p>
          <a:pPr algn="ctr"/>
          <a:endParaRPr lang="en-US" sz="1200">
            <a:latin typeface="Times New Roman" panose="02020603050405020304" pitchFamily="18" charset="0"/>
            <a:cs typeface="Times New Roman" panose="02020603050405020304" pitchFamily="18" charset="0"/>
          </a:endParaRPr>
        </a:p>
      </dgm:t>
    </dgm:pt>
    <dgm:pt modelId="{66B29ECB-946F-4B4F-93DC-F9FB4E4A0EC1}">
      <dgm:prSet phldrT="[Text]" custT="1"/>
      <dgm:spPr/>
      <dgm:t>
        <a:bodyPr/>
        <a:lstStyle/>
        <a:p>
          <a:pPr algn="ctr"/>
          <a:r>
            <a:rPr lang="en-US" sz="1600">
              <a:latin typeface="Times New Roman" panose="02020603050405020304" pitchFamily="18" charset="0"/>
              <a:cs typeface="Times New Roman" panose="02020603050405020304" pitchFamily="18" charset="0"/>
            </a:rPr>
            <a:t>Modeling</a:t>
          </a:r>
        </a:p>
      </dgm:t>
    </dgm:pt>
    <dgm:pt modelId="{381DCEFC-D7D0-4BBD-BF35-59F25690B2D3}" type="parTrans" cxnId="{6F96DA5C-E906-4B72-99B3-1475FBE40039}">
      <dgm:prSet/>
      <dgm:spPr/>
      <dgm:t>
        <a:bodyPr/>
        <a:lstStyle/>
        <a:p>
          <a:endParaRPr lang="en-US" sz="1200">
            <a:latin typeface="Times New Roman" panose="02020603050405020304" pitchFamily="18" charset="0"/>
            <a:cs typeface="Times New Roman" panose="02020603050405020304" pitchFamily="18" charset="0"/>
          </a:endParaRPr>
        </a:p>
      </dgm:t>
    </dgm:pt>
    <dgm:pt modelId="{50A13C24-D6D7-4813-9F35-C61D1518A4A3}" type="sibTrans" cxnId="{6F96DA5C-E906-4B72-99B3-1475FBE40039}">
      <dgm:prSet custT="1"/>
      <dgm:spPr/>
      <dgm:t>
        <a:bodyPr/>
        <a:lstStyle/>
        <a:p>
          <a:endParaRPr lang="en-US" sz="1200">
            <a:latin typeface="Times New Roman" panose="02020603050405020304" pitchFamily="18" charset="0"/>
            <a:cs typeface="Times New Roman" panose="02020603050405020304" pitchFamily="18" charset="0"/>
          </a:endParaRPr>
        </a:p>
      </dgm:t>
    </dgm:pt>
    <dgm:pt modelId="{CA2D3AE7-76F2-4948-9B0A-215F22A6BB54}">
      <dgm:prSet phldrT="[Text]" custT="1"/>
      <dgm:spPr/>
      <dgm:t>
        <a:bodyPr/>
        <a:lstStyle/>
        <a:p>
          <a:pPr algn="ctr"/>
          <a:r>
            <a:rPr lang="en-US" sz="1600">
              <a:latin typeface="Times New Roman" panose="02020603050405020304" pitchFamily="18" charset="0"/>
              <a:cs typeface="Times New Roman" panose="02020603050405020304" pitchFamily="18" charset="0"/>
            </a:rPr>
            <a:t>Evaluation and Testing</a:t>
          </a:r>
        </a:p>
      </dgm:t>
    </dgm:pt>
    <dgm:pt modelId="{4432517B-8957-416B-B880-1816E5B0C3E4}" type="parTrans" cxnId="{0283120B-B118-4156-B77D-84CA2D5928F0}">
      <dgm:prSet/>
      <dgm:spPr/>
      <dgm:t>
        <a:bodyPr/>
        <a:lstStyle/>
        <a:p>
          <a:endParaRPr lang="en-US" sz="1200">
            <a:latin typeface="Times New Roman" panose="02020603050405020304" pitchFamily="18" charset="0"/>
            <a:cs typeface="Times New Roman" panose="02020603050405020304" pitchFamily="18" charset="0"/>
          </a:endParaRPr>
        </a:p>
      </dgm:t>
    </dgm:pt>
    <dgm:pt modelId="{66B37025-7CC9-4E37-AD34-68799C7FF0BE}" type="sibTrans" cxnId="{0283120B-B118-4156-B77D-84CA2D5928F0}">
      <dgm:prSet/>
      <dgm:spPr/>
      <dgm:t>
        <a:bodyPr/>
        <a:lstStyle/>
        <a:p>
          <a:endParaRPr lang="en-US" sz="1200">
            <a:latin typeface="Times New Roman" panose="02020603050405020304" pitchFamily="18" charset="0"/>
            <a:cs typeface="Times New Roman" panose="02020603050405020304" pitchFamily="18" charset="0"/>
          </a:endParaRPr>
        </a:p>
      </dgm:t>
    </dgm:pt>
    <dgm:pt modelId="{F0A5F408-C0E4-47ED-A6C2-DBA11C4ACD4E}" type="pres">
      <dgm:prSet presAssocID="{92C9A600-04CD-4590-89C1-BF43DBF37669}" presName="linearFlow" presStyleCnt="0">
        <dgm:presLayoutVars>
          <dgm:resizeHandles val="exact"/>
        </dgm:presLayoutVars>
      </dgm:prSet>
      <dgm:spPr/>
    </dgm:pt>
    <dgm:pt modelId="{6389AFF0-42E1-4528-B5C3-58D60939B986}" type="pres">
      <dgm:prSet presAssocID="{731B0D0D-9999-438C-8940-820B8FF90D3B}" presName="node" presStyleLbl="node1" presStyleIdx="0" presStyleCnt="5" custScaleX="275704">
        <dgm:presLayoutVars>
          <dgm:bulletEnabled val="1"/>
        </dgm:presLayoutVars>
      </dgm:prSet>
      <dgm:spPr/>
    </dgm:pt>
    <dgm:pt modelId="{BB833BE8-9365-48AB-A725-FAF1B520D3F4}" type="pres">
      <dgm:prSet presAssocID="{471A91D1-D7E9-4F0B-8978-AFE45FFFC104}" presName="sibTrans" presStyleLbl="sibTrans2D1" presStyleIdx="0" presStyleCnt="4"/>
      <dgm:spPr/>
    </dgm:pt>
    <dgm:pt modelId="{55A3F947-A2E2-401E-B0ED-46B63C12B88B}" type="pres">
      <dgm:prSet presAssocID="{471A91D1-D7E9-4F0B-8978-AFE45FFFC104}" presName="connectorText" presStyleLbl="sibTrans2D1" presStyleIdx="0" presStyleCnt="4"/>
      <dgm:spPr/>
    </dgm:pt>
    <dgm:pt modelId="{F43E1DA2-651E-40A2-A2E2-EDD4D6A7ADCE}" type="pres">
      <dgm:prSet presAssocID="{74912E07-1389-4339-BB72-D5897C178F56}" presName="node" presStyleLbl="node1" presStyleIdx="1" presStyleCnt="5" custScaleX="275704">
        <dgm:presLayoutVars>
          <dgm:bulletEnabled val="1"/>
        </dgm:presLayoutVars>
      </dgm:prSet>
      <dgm:spPr/>
    </dgm:pt>
    <dgm:pt modelId="{7A99A51E-0A47-44F8-80CB-85A964AEDC48}" type="pres">
      <dgm:prSet presAssocID="{7F37D3DD-CAEA-466D-9900-8CCFF1F3CA33}" presName="sibTrans" presStyleLbl="sibTrans2D1" presStyleIdx="1" presStyleCnt="4"/>
      <dgm:spPr/>
    </dgm:pt>
    <dgm:pt modelId="{DC459E9F-D484-4484-B8FB-00CC0CA89397}" type="pres">
      <dgm:prSet presAssocID="{7F37D3DD-CAEA-466D-9900-8CCFF1F3CA33}" presName="connectorText" presStyleLbl="sibTrans2D1" presStyleIdx="1" presStyleCnt="4"/>
      <dgm:spPr/>
    </dgm:pt>
    <dgm:pt modelId="{A0C6E388-F02E-40EA-926F-8179E9176409}" type="pres">
      <dgm:prSet presAssocID="{63A8844C-C793-484D-95B1-2A8EBF1DD4E4}" presName="node" presStyleLbl="node1" presStyleIdx="2" presStyleCnt="5" custScaleX="275704">
        <dgm:presLayoutVars>
          <dgm:bulletEnabled val="1"/>
        </dgm:presLayoutVars>
      </dgm:prSet>
      <dgm:spPr/>
    </dgm:pt>
    <dgm:pt modelId="{9A5CB07C-A31D-47AE-8B2D-EE013AEFDE82}" type="pres">
      <dgm:prSet presAssocID="{BE09D47D-94D5-4FDE-9B88-DF066CDC2E9D}" presName="sibTrans" presStyleLbl="sibTrans2D1" presStyleIdx="2" presStyleCnt="4"/>
      <dgm:spPr/>
    </dgm:pt>
    <dgm:pt modelId="{B8C63C6D-E881-499C-84B9-D1825062F38B}" type="pres">
      <dgm:prSet presAssocID="{BE09D47D-94D5-4FDE-9B88-DF066CDC2E9D}" presName="connectorText" presStyleLbl="sibTrans2D1" presStyleIdx="2" presStyleCnt="4"/>
      <dgm:spPr/>
    </dgm:pt>
    <dgm:pt modelId="{8716A442-C7AF-42C9-AE79-2B89B24DD349}" type="pres">
      <dgm:prSet presAssocID="{66B29ECB-946F-4B4F-93DC-F9FB4E4A0EC1}" presName="node" presStyleLbl="node1" presStyleIdx="3" presStyleCnt="5" custScaleX="275704">
        <dgm:presLayoutVars>
          <dgm:bulletEnabled val="1"/>
        </dgm:presLayoutVars>
      </dgm:prSet>
      <dgm:spPr/>
    </dgm:pt>
    <dgm:pt modelId="{5720AEF7-ADEF-462D-BD40-AB954C3DE41B}" type="pres">
      <dgm:prSet presAssocID="{50A13C24-D6D7-4813-9F35-C61D1518A4A3}" presName="sibTrans" presStyleLbl="sibTrans2D1" presStyleIdx="3" presStyleCnt="4"/>
      <dgm:spPr/>
    </dgm:pt>
    <dgm:pt modelId="{BCCB14AD-73B4-4375-90AC-07F4B6B0D262}" type="pres">
      <dgm:prSet presAssocID="{50A13C24-D6D7-4813-9F35-C61D1518A4A3}" presName="connectorText" presStyleLbl="sibTrans2D1" presStyleIdx="3" presStyleCnt="4"/>
      <dgm:spPr/>
    </dgm:pt>
    <dgm:pt modelId="{B2960881-BC5E-47CA-B45D-CDF7680C0725}" type="pres">
      <dgm:prSet presAssocID="{CA2D3AE7-76F2-4948-9B0A-215F22A6BB54}" presName="node" presStyleLbl="node1" presStyleIdx="4" presStyleCnt="5" custScaleX="275704">
        <dgm:presLayoutVars>
          <dgm:bulletEnabled val="1"/>
        </dgm:presLayoutVars>
      </dgm:prSet>
      <dgm:spPr/>
    </dgm:pt>
  </dgm:ptLst>
  <dgm:cxnLst>
    <dgm:cxn modelId="{0283120B-B118-4156-B77D-84CA2D5928F0}" srcId="{92C9A600-04CD-4590-89C1-BF43DBF37669}" destId="{CA2D3AE7-76F2-4948-9B0A-215F22A6BB54}" srcOrd="4" destOrd="0" parTransId="{4432517B-8957-416B-B880-1816E5B0C3E4}" sibTransId="{66B37025-7CC9-4E37-AD34-68799C7FF0BE}"/>
    <dgm:cxn modelId="{6F96DA5C-E906-4B72-99B3-1475FBE40039}" srcId="{92C9A600-04CD-4590-89C1-BF43DBF37669}" destId="{66B29ECB-946F-4B4F-93DC-F9FB4E4A0EC1}" srcOrd="3" destOrd="0" parTransId="{381DCEFC-D7D0-4BBD-BF35-59F25690B2D3}" sibTransId="{50A13C24-D6D7-4813-9F35-C61D1518A4A3}"/>
    <dgm:cxn modelId="{F79C255F-BF63-4A89-99FF-BF31F068D46B}" srcId="{92C9A600-04CD-4590-89C1-BF43DBF37669}" destId="{74912E07-1389-4339-BB72-D5897C178F56}" srcOrd="1" destOrd="0" parTransId="{4C7DA21F-F216-47D9-8CB8-5291D965D565}" sibTransId="{7F37D3DD-CAEA-466D-9900-8CCFF1F3CA33}"/>
    <dgm:cxn modelId="{60B57F50-7734-4B45-B808-BB879E999F74}" type="presOf" srcId="{731B0D0D-9999-438C-8940-820B8FF90D3B}" destId="{6389AFF0-42E1-4528-B5C3-58D60939B986}" srcOrd="0" destOrd="0" presId="urn:microsoft.com/office/officeart/2005/8/layout/process2"/>
    <dgm:cxn modelId="{E721B670-5D43-4E4F-A894-1E1C3A1CFC3B}" type="presOf" srcId="{7F37D3DD-CAEA-466D-9900-8CCFF1F3CA33}" destId="{DC459E9F-D484-4484-B8FB-00CC0CA89397}" srcOrd="1" destOrd="0" presId="urn:microsoft.com/office/officeart/2005/8/layout/process2"/>
    <dgm:cxn modelId="{B1957F53-AC59-4CA7-B66E-BD49B7080063}" type="presOf" srcId="{66B29ECB-946F-4B4F-93DC-F9FB4E4A0EC1}" destId="{8716A442-C7AF-42C9-AE79-2B89B24DD349}" srcOrd="0" destOrd="0" presId="urn:microsoft.com/office/officeart/2005/8/layout/process2"/>
    <dgm:cxn modelId="{24E33278-94F9-498C-8A4B-280F67FEC7F2}" type="presOf" srcId="{92C9A600-04CD-4590-89C1-BF43DBF37669}" destId="{F0A5F408-C0E4-47ED-A6C2-DBA11C4ACD4E}" srcOrd="0" destOrd="0" presId="urn:microsoft.com/office/officeart/2005/8/layout/process2"/>
    <dgm:cxn modelId="{3BCD7B79-57AF-43A8-981B-A122EAE9232E}" type="presOf" srcId="{63A8844C-C793-484D-95B1-2A8EBF1DD4E4}" destId="{A0C6E388-F02E-40EA-926F-8179E9176409}" srcOrd="0" destOrd="0" presId="urn:microsoft.com/office/officeart/2005/8/layout/process2"/>
    <dgm:cxn modelId="{11E5E28D-6983-40BE-82F7-842123CD68FF}" type="presOf" srcId="{50A13C24-D6D7-4813-9F35-C61D1518A4A3}" destId="{5720AEF7-ADEF-462D-BD40-AB954C3DE41B}" srcOrd="0" destOrd="0" presId="urn:microsoft.com/office/officeart/2005/8/layout/process2"/>
    <dgm:cxn modelId="{D84B7E8E-67DE-4D66-9754-E66EF64C87F4}" type="presOf" srcId="{7F37D3DD-CAEA-466D-9900-8CCFF1F3CA33}" destId="{7A99A51E-0A47-44F8-80CB-85A964AEDC48}" srcOrd="0" destOrd="0" presId="urn:microsoft.com/office/officeart/2005/8/layout/process2"/>
    <dgm:cxn modelId="{509DDEB2-10CB-43B5-BC3D-9A274DA4A5D8}" type="presOf" srcId="{BE09D47D-94D5-4FDE-9B88-DF066CDC2E9D}" destId="{9A5CB07C-A31D-47AE-8B2D-EE013AEFDE82}" srcOrd="0" destOrd="0" presId="urn:microsoft.com/office/officeart/2005/8/layout/process2"/>
    <dgm:cxn modelId="{A98C01B9-8B0C-436C-A2C3-85039988D9A3}" type="presOf" srcId="{471A91D1-D7E9-4F0B-8978-AFE45FFFC104}" destId="{BB833BE8-9365-48AB-A725-FAF1B520D3F4}" srcOrd="0" destOrd="0" presId="urn:microsoft.com/office/officeart/2005/8/layout/process2"/>
    <dgm:cxn modelId="{498EC9D7-4A42-40F6-8F23-A37FBD2D9278}" type="presOf" srcId="{50A13C24-D6D7-4813-9F35-C61D1518A4A3}" destId="{BCCB14AD-73B4-4375-90AC-07F4B6B0D262}" srcOrd="1" destOrd="0" presId="urn:microsoft.com/office/officeart/2005/8/layout/process2"/>
    <dgm:cxn modelId="{983B6EDC-EB15-417C-A074-5F3FC4934988}" type="presOf" srcId="{BE09D47D-94D5-4FDE-9B88-DF066CDC2E9D}" destId="{B8C63C6D-E881-499C-84B9-D1825062F38B}" srcOrd="1" destOrd="0" presId="urn:microsoft.com/office/officeart/2005/8/layout/process2"/>
    <dgm:cxn modelId="{EE5BEBEC-76D9-485F-AD49-EC41A61DEA86}" srcId="{92C9A600-04CD-4590-89C1-BF43DBF37669}" destId="{731B0D0D-9999-438C-8940-820B8FF90D3B}" srcOrd="0" destOrd="0" parTransId="{DC8C621B-0AAA-4DB3-B342-DE76CC401BA8}" sibTransId="{471A91D1-D7E9-4F0B-8978-AFE45FFFC104}"/>
    <dgm:cxn modelId="{FE5220F0-917E-4681-8D9A-EF00D327F1E2}" type="presOf" srcId="{CA2D3AE7-76F2-4948-9B0A-215F22A6BB54}" destId="{B2960881-BC5E-47CA-B45D-CDF7680C0725}" srcOrd="0" destOrd="0" presId="urn:microsoft.com/office/officeart/2005/8/layout/process2"/>
    <dgm:cxn modelId="{F5444DF5-2046-47D0-8ECF-FF025C6E3AF5}" type="presOf" srcId="{74912E07-1389-4339-BB72-D5897C178F56}" destId="{F43E1DA2-651E-40A2-A2E2-EDD4D6A7ADCE}" srcOrd="0" destOrd="0" presId="urn:microsoft.com/office/officeart/2005/8/layout/process2"/>
    <dgm:cxn modelId="{F6A0F7F7-2AAC-4B4D-B6BA-FE85D19CC00C}" type="presOf" srcId="{471A91D1-D7E9-4F0B-8978-AFE45FFFC104}" destId="{55A3F947-A2E2-401E-B0ED-46B63C12B88B}" srcOrd="1" destOrd="0" presId="urn:microsoft.com/office/officeart/2005/8/layout/process2"/>
    <dgm:cxn modelId="{C55DB9FF-D1F2-4087-91A5-596DC3174773}" srcId="{92C9A600-04CD-4590-89C1-BF43DBF37669}" destId="{63A8844C-C793-484D-95B1-2A8EBF1DD4E4}" srcOrd="2" destOrd="0" parTransId="{0352D2FC-2EB9-48BB-867F-BBC35693F9CE}" sibTransId="{BE09D47D-94D5-4FDE-9B88-DF066CDC2E9D}"/>
    <dgm:cxn modelId="{6E9FA802-EBFF-4432-B568-0EF8EA2CDD48}" type="presParOf" srcId="{F0A5F408-C0E4-47ED-A6C2-DBA11C4ACD4E}" destId="{6389AFF0-42E1-4528-B5C3-58D60939B986}" srcOrd="0" destOrd="0" presId="urn:microsoft.com/office/officeart/2005/8/layout/process2"/>
    <dgm:cxn modelId="{845E10CA-F182-4483-8049-A404052BA423}" type="presParOf" srcId="{F0A5F408-C0E4-47ED-A6C2-DBA11C4ACD4E}" destId="{BB833BE8-9365-48AB-A725-FAF1B520D3F4}" srcOrd="1" destOrd="0" presId="urn:microsoft.com/office/officeart/2005/8/layout/process2"/>
    <dgm:cxn modelId="{6C44BC5C-5187-4BBB-ABC2-AC3FB553851A}" type="presParOf" srcId="{BB833BE8-9365-48AB-A725-FAF1B520D3F4}" destId="{55A3F947-A2E2-401E-B0ED-46B63C12B88B}" srcOrd="0" destOrd="0" presId="urn:microsoft.com/office/officeart/2005/8/layout/process2"/>
    <dgm:cxn modelId="{44611CD8-EFEA-4B5F-9C65-25DAFFB15A24}" type="presParOf" srcId="{F0A5F408-C0E4-47ED-A6C2-DBA11C4ACD4E}" destId="{F43E1DA2-651E-40A2-A2E2-EDD4D6A7ADCE}" srcOrd="2" destOrd="0" presId="urn:microsoft.com/office/officeart/2005/8/layout/process2"/>
    <dgm:cxn modelId="{AE262AFE-D9B1-4D0E-8B1F-2D57C3CF6CD3}" type="presParOf" srcId="{F0A5F408-C0E4-47ED-A6C2-DBA11C4ACD4E}" destId="{7A99A51E-0A47-44F8-80CB-85A964AEDC48}" srcOrd="3" destOrd="0" presId="urn:microsoft.com/office/officeart/2005/8/layout/process2"/>
    <dgm:cxn modelId="{591AAA2D-A76B-4F8E-9F0C-0BEEC2308BE6}" type="presParOf" srcId="{7A99A51E-0A47-44F8-80CB-85A964AEDC48}" destId="{DC459E9F-D484-4484-B8FB-00CC0CA89397}" srcOrd="0" destOrd="0" presId="urn:microsoft.com/office/officeart/2005/8/layout/process2"/>
    <dgm:cxn modelId="{A7116A08-D2DF-4774-A6CF-7FF0D1380AE9}" type="presParOf" srcId="{F0A5F408-C0E4-47ED-A6C2-DBA11C4ACD4E}" destId="{A0C6E388-F02E-40EA-926F-8179E9176409}" srcOrd="4" destOrd="0" presId="urn:microsoft.com/office/officeart/2005/8/layout/process2"/>
    <dgm:cxn modelId="{A0338A83-30E0-418C-A00E-C5A0BED05E23}" type="presParOf" srcId="{F0A5F408-C0E4-47ED-A6C2-DBA11C4ACD4E}" destId="{9A5CB07C-A31D-47AE-8B2D-EE013AEFDE82}" srcOrd="5" destOrd="0" presId="urn:microsoft.com/office/officeart/2005/8/layout/process2"/>
    <dgm:cxn modelId="{5DC2418C-1370-4D45-AD99-861CEE4D4C1D}" type="presParOf" srcId="{9A5CB07C-A31D-47AE-8B2D-EE013AEFDE82}" destId="{B8C63C6D-E881-499C-84B9-D1825062F38B}" srcOrd="0" destOrd="0" presId="urn:microsoft.com/office/officeart/2005/8/layout/process2"/>
    <dgm:cxn modelId="{6723AE72-C43B-4D12-8CF4-788D9BC87B4C}" type="presParOf" srcId="{F0A5F408-C0E4-47ED-A6C2-DBA11C4ACD4E}" destId="{8716A442-C7AF-42C9-AE79-2B89B24DD349}" srcOrd="6" destOrd="0" presId="urn:microsoft.com/office/officeart/2005/8/layout/process2"/>
    <dgm:cxn modelId="{A2DEE10F-1966-461E-85B9-10E7CB6F7805}" type="presParOf" srcId="{F0A5F408-C0E4-47ED-A6C2-DBA11C4ACD4E}" destId="{5720AEF7-ADEF-462D-BD40-AB954C3DE41B}" srcOrd="7" destOrd="0" presId="urn:microsoft.com/office/officeart/2005/8/layout/process2"/>
    <dgm:cxn modelId="{0E5247D6-F279-4295-972F-F6BCFC2A5F0B}" type="presParOf" srcId="{5720AEF7-ADEF-462D-BD40-AB954C3DE41B}" destId="{BCCB14AD-73B4-4375-90AC-07F4B6B0D262}" srcOrd="0" destOrd="0" presId="urn:microsoft.com/office/officeart/2005/8/layout/process2"/>
    <dgm:cxn modelId="{60EBB2CA-E622-4027-A827-B7D5AF54C396}" type="presParOf" srcId="{F0A5F408-C0E4-47ED-A6C2-DBA11C4ACD4E}" destId="{B2960881-BC5E-47CA-B45D-CDF7680C0725}" srcOrd="8"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89AFF0-42E1-4528-B5C3-58D60939B986}">
      <dsp:nvSpPr>
        <dsp:cNvPr id="0" name=""/>
        <dsp:cNvSpPr/>
      </dsp:nvSpPr>
      <dsp:spPr>
        <a:xfrm>
          <a:off x="2557371" y="542"/>
          <a:ext cx="5124632" cy="63529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Collect Inspection Data</a:t>
          </a:r>
        </a:p>
      </dsp:txBody>
      <dsp:txXfrm>
        <a:off x="2575978" y="19149"/>
        <a:ext cx="5087418" cy="598084"/>
      </dsp:txXfrm>
    </dsp:sp>
    <dsp:sp modelId="{BB833BE8-9365-48AB-A725-FAF1B520D3F4}">
      <dsp:nvSpPr>
        <dsp:cNvPr id="0" name=""/>
        <dsp:cNvSpPr/>
      </dsp:nvSpPr>
      <dsp:spPr>
        <a:xfrm rot="5400000">
          <a:off x="5000569" y="651723"/>
          <a:ext cx="238236" cy="28588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latin typeface="Times New Roman" panose="02020603050405020304" pitchFamily="18" charset="0"/>
            <a:cs typeface="Times New Roman" panose="02020603050405020304" pitchFamily="18" charset="0"/>
          </a:endParaRPr>
        </a:p>
      </dsp:txBody>
      <dsp:txXfrm rot="-5400000">
        <a:off x="5033923" y="675547"/>
        <a:ext cx="171530" cy="166765"/>
      </dsp:txXfrm>
    </dsp:sp>
    <dsp:sp modelId="{F43E1DA2-651E-40A2-A2E2-EDD4D6A7ADCE}">
      <dsp:nvSpPr>
        <dsp:cNvPr id="0" name=""/>
        <dsp:cNvSpPr/>
      </dsp:nvSpPr>
      <dsp:spPr>
        <a:xfrm>
          <a:off x="2557371" y="953490"/>
          <a:ext cx="5124632" cy="63529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Explore and Understand the Data</a:t>
          </a:r>
        </a:p>
      </dsp:txBody>
      <dsp:txXfrm>
        <a:off x="2575978" y="972097"/>
        <a:ext cx="5087418" cy="598084"/>
      </dsp:txXfrm>
    </dsp:sp>
    <dsp:sp modelId="{7A99A51E-0A47-44F8-80CB-85A964AEDC48}">
      <dsp:nvSpPr>
        <dsp:cNvPr id="0" name=""/>
        <dsp:cNvSpPr/>
      </dsp:nvSpPr>
      <dsp:spPr>
        <a:xfrm rot="5400000">
          <a:off x="5000569" y="1604671"/>
          <a:ext cx="238236" cy="28588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latin typeface="Times New Roman" panose="02020603050405020304" pitchFamily="18" charset="0"/>
            <a:cs typeface="Times New Roman" panose="02020603050405020304" pitchFamily="18" charset="0"/>
          </a:endParaRPr>
        </a:p>
      </dsp:txBody>
      <dsp:txXfrm rot="-5400000">
        <a:off x="5033923" y="1628495"/>
        <a:ext cx="171530" cy="166765"/>
      </dsp:txXfrm>
    </dsp:sp>
    <dsp:sp modelId="{A0C6E388-F02E-40EA-926F-8179E9176409}">
      <dsp:nvSpPr>
        <dsp:cNvPr id="0" name=""/>
        <dsp:cNvSpPr/>
      </dsp:nvSpPr>
      <dsp:spPr>
        <a:xfrm>
          <a:off x="2557371" y="1906438"/>
          <a:ext cx="5124632" cy="63529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latin typeface="Times New Roman" panose="02020603050405020304" pitchFamily="18" charset="0"/>
              <a:cs typeface="Times New Roman" panose="02020603050405020304" pitchFamily="18" charset="0"/>
            </a:rPr>
            <a:t>Data preparation and preprocessing</a:t>
          </a:r>
        </a:p>
      </dsp:txBody>
      <dsp:txXfrm>
        <a:off x="2575978" y="1925045"/>
        <a:ext cx="5087418" cy="598084"/>
      </dsp:txXfrm>
    </dsp:sp>
    <dsp:sp modelId="{9A5CB07C-A31D-47AE-8B2D-EE013AEFDE82}">
      <dsp:nvSpPr>
        <dsp:cNvPr id="0" name=""/>
        <dsp:cNvSpPr/>
      </dsp:nvSpPr>
      <dsp:spPr>
        <a:xfrm rot="5400000">
          <a:off x="5000569" y="2557619"/>
          <a:ext cx="238236" cy="28588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latin typeface="Times New Roman" panose="02020603050405020304" pitchFamily="18" charset="0"/>
            <a:cs typeface="Times New Roman" panose="02020603050405020304" pitchFamily="18" charset="0"/>
          </a:endParaRPr>
        </a:p>
      </dsp:txBody>
      <dsp:txXfrm rot="-5400000">
        <a:off x="5033923" y="2581443"/>
        <a:ext cx="171530" cy="166765"/>
      </dsp:txXfrm>
    </dsp:sp>
    <dsp:sp modelId="{8716A442-C7AF-42C9-AE79-2B89B24DD349}">
      <dsp:nvSpPr>
        <dsp:cNvPr id="0" name=""/>
        <dsp:cNvSpPr/>
      </dsp:nvSpPr>
      <dsp:spPr>
        <a:xfrm>
          <a:off x="2557371" y="2859385"/>
          <a:ext cx="5124632" cy="63529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latin typeface="Times New Roman" panose="02020603050405020304" pitchFamily="18" charset="0"/>
              <a:cs typeface="Times New Roman" panose="02020603050405020304" pitchFamily="18" charset="0"/>
            </a:rPr>
            <a:t>Modeling</a:t>
          </a:r>
        </a:p>
      </dsp:txBody>
      <dsp:txXfrm>
        <a:off x="2575978" y="2877992"/>
        <a:ext cx="5087418" cy="598084"/>
      </dsp:txXfrm>
    </dsp:sp>
    <dsp:sp modelId="{5720AEF7-ADEF-462D-BD40-AB954C3DE41B}">
      <dsp:nvSpPr>
        <dsp:cNvPr id="0" name=""/>
        <dsp:cNvSpPr/>
      </dsp:nvSpPr>
      <dsp:spPr>
        <a:xfrm rot="5400000">
          <a:off x="5000569" y="3510566"/>
          <a:ext cx="238236" cy="28588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latin typeface="Times New Roman" panose="02020603050405020304" pitchFamily="18" charset="0"/>
            <a:cs typeface="Times New Roman" panose="02020603050405020304" pitchFamily="18" charset="0"/>
          </a:endParaRPr>
        </a:p>
      </dsp:txBody>
      <dsp:txXfrm rot="-5400000">
        <a:off x="5033923" y="3534390"/>
        <a:ext cx="171530" cy="166765"/>
      </dsp:txXfrm>
    </dsp:sp>
    <dsp:sp modelId="{B2960881-BC5E-47CA-B45D-CDF7680C0725}">
      <dsp:nvSpPr>
        <dsp:cNvPr id="0" name=""/>
        <dsp:cNvSpPr/>
      </dsp:nvSpPr>
      <dsp:spPr>
        <a:xfrm>
          <a:off x="2557371" y="3812333"/>
          <a:ext cx="5124632" cy="63529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latin typeface="Times New Roman" panose="02020603050405020304" pitchFamily="18" charset="0"/>
              <a:cs typeface="Times New Roman" panose="02020603050405020304" pitchFamily="18" charset="0"/>
            </a:rPr>
            <a:t>Evaluation and Testing</a:t>
          </a:r>
        </a:p>
      </dsp:txBody>
      <dsp:txXfrm>
        <a:off x="2575978" y="3830940"/>
        <a:ext cx="5087418" cy="598084"/>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smtClean="0"/>
              <a:t>5/12/2020</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48657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5/12/2020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08888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5/12/2020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07223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5/12/2020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05641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5/12/2020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30372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5/12/2020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30521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5/12/2020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462991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5/12/2020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35662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5/12/2020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37276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5/12/2020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07161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5/12/2020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896258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5/12/2020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1392539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5/12/2020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652021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5/12/2020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697265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5/12/2020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416773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5/12/2020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180114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5/12/2020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84188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5/12/2020</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003530557"/>
      </p:ext>
    </p:extLst>
  </p:cSld>
  <p:clrMap bg1="dk1" tx1="lt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SF Food Inspection Use Case</a:t>
            </a:r>
          </a:p>
        </p:txBody>
      </p:sp>
      <p:sp>
        <p:nvSpPr>
          <p:cNvPr id="3" name="Subtitle 2"/>
          <p:cNvSpPr>
            <a:spLocks noGrp="1"/>
          </p:cNvSpPr>
          <p:nvPr>
            <p:ph type="subTitle" idx="1"/>
          </p:nvPr>
        </p:nvSpPr>
        <p:spPr/>
        <p:txBody>
          <a:bodyPr vert="horz" lIns="91440" tIns="45720" rIns="91440" bIns="45720" rtlCol="0" anchor="t">
            <a:normAutofit/>
          </a:bodyPr>
          <a:lstStyle/>
          <a:p>
            <a:r>
              <a:rPr lang="en-US" dirty="0"/>
              <a:t>By: </a:t>
            </a:r>
            <a:r>
              <a:rPr lang="en-US"/>
              <a:t>Aditya Chowdhury</a:t>
            </a:r>
            <a:endParaRPr lang="en-US" dirty="0"/>
          </a:p>
        </p:txBody>
      </p:sp>
    </p:spTree>
    <p:extLst>
      <p:ext uri="{BB962C8B-B14F-4D97-AF65-F5344CB8AC3E}">
        <p14:creationId xmlns:p14="http://schemas.microsoft.com/office/powerpoint/2010/main" val="22880460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normAutofit lnSpcReduction="10000"/>
          </a:bodyPr>
          <a:lstStyle/>
          <a:p>
            <a:r>
              <a:rPr lang="en-US" dirty="0"/>
              <a:t>Food inspection involves not only sampling and testing of end products but also assessing food centers to ensure compliance with food safety management systems. This minimizes the occurrence of public health food safety problems. Food inspection dates back to ancient times as part of the history of public health. The Food and Drug Administration (FDA) publishes the Food Code that sets guidelines and procedures to assist in food control jurisdictions. The Food Code provides a scientifically and legally backed basis for regulating the retail and food service industries. </a:t>
            </a:r>
          </a:p>
        </p:txBody>
      </p:sp>
    </p:spTree>
    <p:extLst>
      <p:ext uri="{BB962C8B-B14F-4D97-AF65-F5344CB8AC3E}">
        <p14:creationId xmlns:p14="http://schemas.microsoft.com/office/powerpoint/2010/main" val="1483670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a:t>
            </a:r>
          </a:p>
        </p:txBody>
      </p:sp>
      <p:sp>
        <p:nvSpPr>
          <p:cNvPr id="3" name="Content Placeholder 2"/>
          <p:cNvSpPr>
            <a:spLocks noGrp="1"/>
          </p:cNvSpPr>
          <p:nvPr>
            <p:ph idx="1"/>
          </p:nvPr>
        </p:nvSpPr>
        <p:spPr/>
        <p:txBody>
          <a:bodyPr>
            <a:normAutofit fontScale="92500" lnSpcReduction="20000"/>
          </a:bodyPr>
          <a:lstStyle/>
          <a:p>
            <a:r>
              <a:rPr lang="en-US" dirty="0"/>
              <a:t>The food inspectors can then have a “Critical first” inspection approach where the places that have been predicted to have critical violations are inspected first. </a:t>
            </a:r>
          </a:p>
          <a:p>
            <a:r>
              <a:rPr lang="en-US" dirty="0"/>
              <a:t>Some of the factors that tend to predict critical violation include previous critical violations, high temperatures, nearby sanitation complains, nearby burglaries </a:t>
            </a:r>
            <a:r>
              <a:rPr lang="en-US" dirty="0" err="1"/>
              <a:t>etc</a:t>
            </a:r>
            <a:endParaRPr lang="en-US" dirty="0"/>
          </a:p>
          <a:p>
            <a:r>
              <a:rPr lang="en-US" dirty="0"/>
              <a:t>This report would be beneficial to public health specialists and every stakeholder working to alleviate public health concerns through preventive measures. </a:t>
            </a:r>
          </a:p>
          <a:p>
            <a:r>
              <a:rPr lang="en-US" dirty="0"/>
              <a:t>It is not to introduce food inspection since these professionals are already carrying out food inspections in the relevant jurisdictions but to make the process more efficient. </a:t>
            </a:r>
          </a:p>
          <a:p>
            <a:endParaRPr lang="en-US" dirty="0"/>
          </a:p>
        </p:txBody>
      </p:sp>
    </p:spTree>
    <p:extLst>
      <p:ext uri="{BB962C8B-B14F-4D97-AF65-F5344CB8AC3E}">
        <p14:creationId xmlns:p14="http://schemas.microsoft.com/office/powerpoint/2010/main" val="3379472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Description</a:t>
            </a:r>
          </a:p>
        </p:txBody>
      </p:sp>
      <p:sp>
        <p:nvSpPr>
          <p:cNvPr id="3" name="Content Placeholder 2"/>
          <p:cNvSpPr>
            <a:spLocks noGrp="1"/>
          </p:cNvSpPr>
          <p:nvPr>
            <p:ph idx="1"/>
          </p:nvPr>
        </p:nvSpPr>
        <p:spPr/>
        <p:txBody>
          <a:bodyPr>
            <a:normAutofit lnSpcReduction="10000"/>
          </a:bodyPr>
          <a:lstStyle/>
          <a:p>
            <a:r>
              <a:rPr lang="en-US" dirty="0"/>
              <a:t>After conducting an inspection of the facility, the Health Inspector calculates a score based on the violations observed. Violations can fall into:</a:t>
            </a:r>
          </a:p>
          <a:p>
            <a:pPr lvl="1"/>
            <a:r>
              <a:rPr lang="en-US" b="1" dirty="0"/>
              <a:t>High risk category</a:t>
            </a:r>
            <a:r>
              <a:rPr lang="en-US" dirty="0"/>
              <a:t>: records specific violations that directly relate to the transmission of food borne illnesses, the adulteration of food products and the contamination of food-contact surfaces.</a:t>
            </a:r>
          </a:p>
          <a:p>
            <a:pPr lvl="1"/>
            <a:r>
              <a:rPr lang="en-US" b="1" dirty="0"/>
              <a:t>Moderate risk category:</a:t>
            </a:r>
            <a:r>
              <a:rPr lang="en-US" dirty="0"/>
              <a:t> records specific violations that are of a moderate risk to the public health and safety.</a:t>
            </a:r>
          </a:p>
          <a:p>
            <a:pPr lvl="1"/>
            <a:r>
              <a:rPr lang="en-US" b="1" dirty="0"/>
              <a:t>Low risk category:</a:t>
            </a:r>
            <a:r>
              <a:rPr lang="en-US" dirty="0"/>
              <a:t> records violations that are low risk or have no immediate risk to the public health and safety.</a:t>
            </a:r>
          </a:p>
        </p:txBody>
      </p:sp>
    </p:spTree>
    <p:extLst>
      <p:ext uri="{BB962C8B-B14F-4D97-AF65-F5344CB8AC3E}">
        <p14:creationId xmlns:p14="http://schemas.microsoft.com/office/powerpoint/2010/main" val="1716189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Description</a:t>
            </a:r>
          </a:p>
        </p:txBody>
      </p:sp>
      <p:graphicFrame>
        <p:nvGraphicFramePr>
          <p:cNvPr id="4" name="Table 3"/>
          <p:cNvGraphicFramePr>
            <a:graphicFrameLocks noGrp="1"/>
          </p:cNvGraphicFramePr>
          <p:nvPr>
            <p:extLst>
              <p:ext uri="{D42A27DB-BD31-4B8C-83A1-F6EECF244321}">
                <p14:modId xmlns:p14="http://schemas.microsoft.com/office/powerpoint/2010/main" val="3600062673"/>
              </p:ext>
            </p:extLst>
          </p:nvPr>
        </p:nvGraphicFramePr>
        <p:xfrm>
          <a:off x="1695449" y="2049791"/>
          <a:ext cx="8143875" cy="4570090"/>
        </p:xfrm>
        <a:graphic>
          <a:graphicData uri="http://schemas.openxmlformats.org/drawingml/2006/table">
            <a:tbl>
              <a:tblPr firstRow="1" firstCol="1" bandRow="1">
                <a:tableStyleId>{5C22544A-7EE6-4342-B048-85BDC9FD1C3A}</a:tableStyleId>
              </a:tblPr>
              <a:tblGrid>
                <a:gridCol w="463666">
                  <a:extLst>
                    <a:ext uri="{9D8B030D-6E8A-4147-A177-3AD203B41FA5}">
                      <a16:colId xmlns:a16="http://schemas.microsoft.com/office/drawing/2014/main" val="4286567881"/>
                    </a:ext>
                  </a:extLst>
                </a:gridCol>
                <a:gridCol w="2099757">
                  <a:extLst>
                    <a:ext uri="{9D8B030D-6E8A-4147-A177-3AD203B41FA5}">
                      <a16:colId xmlns:a16="http://schemas.microsoft.com/office/drawing/2014/main" val="317040210"/>
                    </a:ext>
                  </a:extLst>
                </a:gridCol>
                <a:gridCol w="5580452">
                  <a:extLst>
                    <a:ext uri="{9D8B030D-6E8A-4147-A177-3AD203B41FA5}">
                      <a16:colId xmlns:a16="http://schemas.microsoft.com/office/drawing/2014/main" val="2172291055"/>
                    </a:ext>
                  </a:extLst>
                </a:gridCol>
              </a:tblGrid>
              <a:tr h="245659">
                <a:tc>
                  <a:txBody>
                    <a:bodyPr/>
                    <a:lstStyle/>
                    <a:p>
                      <a:pPr marL="0" marR="0" algn="just">
                        <a:lnSpc>
                          <a:spcPct val="107000"/>
                        </a:lnSpc>
                        <a:spcBef>
                          <a:spcPts val="0"/>
                        </a:spcBef>
                        <a:spcAft>
                          <a:spcPts val="0"/>
                        </a:spcAft>
                      </a:pPr>
                      <a:r>
                        <a:rPr lang="en-US" sz="1000">
                          <a:effectLst/>
                        </a:rPr>
                        <a:t>#</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Feature Name</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dirty="0">
                          <a:effectLst/>
                        </a:rPr>
                        <a:t>Description</a:t>
                      </a:r>
                      <a:endParaRPr lang="en-US" sz="900" dirty="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extLst>
                  <a:ext uri="{0D108BD9-81ED-4DB2-BD59-A6C34878D82A}">
                    <a16:rowId xmlns:a16="http://schemas.microsoft.com/office/drawing/2014/main" val="2077046233"/>
                  </a:ext>
                </a:extLst>
              </a:tr>
              <a:tr h="205739">
                <a:tc>
                  <a:txBody>
                    <a:bodyPr/>
                    <a:lstStyle/>
                    <a:p>
                      <a:pPr marL="0" marR="0" algn="just">
                        <a:lnSpc>
                          <a:spcPct val="107000"/>
                        </a:lnSpc>
                        <a:spcBef>
                          <a:spcPts val="0"/>
                        </a:spcBef>
                        <a:spcAft>
                          <a:spcPts val="0"/>
                        </a:spcAft>
                      </a:pPr>
                      <a:r>
                        <a:rPr lang="en-US" sz="1000">
                          <a:effectLst/>
                        </a:rPr>
                        <a:t>1</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business_id</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Unique number used for identification of the business </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extLst>
                  <a:ext uri="{0D108BD9-81ED-4DB2-BD59-A6C34878D82A}">
                    <a16:rowId xmlns:a16="http://schemas.microsoft.com/office/drawing/2014/main" val="1530391909"/>
                  </a:ext>
                </a:extLst>
              </a:tr>
              <a:tr h="205739">
                <a:tc>
                  <a:txBody>
                    <a:bodyPr/>
                    <a:lstStyle/>
                    <a:p>
                      <a:pPr marL="0" marR="0" algn="just">
                        <a:lnSpc>
                          <a:spcPct val="107000"/>
                        </a:lnSpc>
                        <a:spcBef>
                          <a:spcPts val="0"/>
                        </a:spcBef>
                        <a:spcAft>
                          <a:spcPts val="0"/>
                        </a:spcAft>
                      </a:pPr>
                      <a:r>
                        <a:rPr lang="en-US" sz="1000">
                          <a:effectLst/>
                        </a:rPr>
                        <a:t>2</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business_name</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Business Name</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extLst>
                  <a:ext uri="{0D108BD9-81ED-4DB2-BD59-A6C34878D82A}">
                    <a16:rowId xmlns:a16="http://schemas.microsoft.com/office/drawing/2014/main" val="836551632"/>
                  </a:ext>
                </a:extLst>
              </a:tr>
              <a:tr h="205739">
                <a:tc>
                  <a:txBody>
                    <a:bodyPr/>
                    <a:lstStyle/>
                    <a:p>
                      <a:pPr marL="0" marR="0" algn="just">
                        <a:lnSpc>
                          <a:spcPct val="107000"/>
                        </a:lnSpc>
                        <a:spcBef>
                          <a:spcPts val="0"/>
                        </a:spcBef>
                        <a:spcAft>
                          <a:spcPts val="0"/>
                        </a:spcAft>
                      </a:pPr>
                      <a:r>
                        <a:rPr lang="en-US" sz="1000">
                          <a:effectLst/>
                        </a:rPr>
                        <a:t>3</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business_address</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The address of the business </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extLst>
                  <a:ext uri="{0D108BD9-81ED-4DB2-BD59-A6C34878D82A}">
                    <a16:rowId xmlns:a16="http://schemas.microsoft.com/office/drawing/2014/main" val="482736805"/>
                  </a:ext>
                </a:extLst>
              </a:tr>
              <a:tr h="205739">
                <a:tc>
                  <a:txBody>
                    <a:bodyPr/>
                    <a:lstStyle/>
                    <a:p>
                      <a:pPr marL="0" marR="0" algn="just">
                        <a:lnSpc>
                          <a:spcPct val="107000"/>
                        </a:lnSpc>
                        <a:spcBef>
                          <a:spcPts val="0"/>
                        </a:spcBef>
                        <a:spcAft>
                          <a:spcPts val="0"/>
                        </a:spcAft>
                      </a:pPr>
                      <a:r>
                        <a:rPr lang="en-US" sz="1000">
                          <a:effectLst/>
                        </a:rPr>
                        <a:t>4</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business_city</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The City (here all records have the same city San-Francisco)</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extLst>
                  <a:ext uri="{0D108BD9-81ED-4DB2-BD59-A6C34878D82A}">
                    <a16:rowId xmlns:a16="http://schemas.microsoft.com/office/drawing/2014/main" val="2832986002"/>
                  </a:ext>
                </a:extLst>
              </a:tr>
              <a:tr h="205739">
                <a:tc>
                  <a:txBody>
                    <a:bodyPr/>
                    <a:lstStyle/>
                    <a:p>
                      <a:pPr marL="0" marR="0" algn="just">
                        <a:lnSpc>
                          <a:spcPct val="107000"/>
                        </a:lnSpc>
                        <a:spcBef>
                          <a:spcPts val="0"/>
                        </a:spcBef>
                        <a:spcAft>
                          <a:spcPts val="0"/>
                        </a:spcAft>
                      </a:pPr>
                      <a:r>
                        <a:rPr lang="en-US" sz="1000">
                          <a:effectLst/>
                        </a:rPr>
                        <a:t>5</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business_state</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The state (here all records have the same state CA)</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extLst>
                  <a:ext uri="{0D108BD9-81ED-4DB2-BD59-A6C34878D82A}">
                    <a16:rowId xmlns:a16="http://schemas.microsoft.com/office/drawing/2014/main" val="4270090652"/>
                  </a:ext>
                </a:extLst>
              </a:tr>
              <a:tr h="411477">
                <a:tc>
                  <a:txBody>
                    <a:bodyPr/>
                    <a:lstStyle/>
                    <a:p>
                      <a:pPr marL="0" marR="0" algn="just">
                        <a:lnSpc>
                          <a:spcPct val="107000"/>
                        </a:lnSpc>
                        <a:spcBef>
                          <a:spcPts val="0"/>
                        </a:spcBef>
                        <a:spcAft>
                          <a:spcPts val="0"/>
                        </a:spcAft>
                      </a:pPr>
                      <a:r>
                        <a:rPr lang="en-US" sz="1000">
                          <a:effectLst/>
                        </a:rPr>
                        <a:t>6</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business_postal_code</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Zip/postal code of the business</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extLst>
                  <a:ext uri="{0D108BD9-81ED-4DB2-BD59-A6C34878D82A}">
                    <a16:rowId xmlns:a16="http://schemas.microsoft.com/office/drawing/2014/main" val="1335426076"/>
                  </a:ext>
                </a:extLst>
              </a:tr>
              <a:tr h="205739">
                <a:tc>
                  <a:txBody>
                    <a:bodyPr/>
                    <a:lstStyle/>
                    <a:p>
                      <a:pPr marL="0" marR="0" algn="just">
                        <a:lnSpc>
                          <a:spcPct val="107000"/>
                        </a:lnSpc>
                        <a:spcBef>
                          <a:spcPts val="0"/>
                        </a:spcBef>
                        <a:spcAft>
                          <a:spcPts val="0"/>
                        </a:spcAft>
                      </a:pPr>
                      <a:r>
                        <a:rPr lang="en-US" sz="1000">
                          <a:effectLst/>
                        </a:rPr>
                        <a:t>7</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business_latitude</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The latitude value of the business location</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extLst>
                  <a:ext uri="{0D108BD9-81ED-4DB2-BD59-A6C34878D82A}">
                    <a16:rowId xmlns:a16="http://schemas.microsoft.com/office/drawing/2014/main" val="2500154062"/>
                  </a:ext>
                </a:extLst>
              </a:tr>
              <a:tr h="205739">
                <a:tc>
                  <a:txBody>
                    <a:bodyPr/>
                    <a:lstStyle/>
                    <a:p>
                      <a:pPr marL="0" marR="0" algn="just">
                        <a:lnSpc>
                          <a:spcPct val="107000"/>
                        </a:lnSpc>
                        <a:spcBef>
                          <a:spcPts val="0"/>
                        </a:spcBef>
                        <a:spcAft>
                          <a:spcPts val="0"/>
                        </a:spcAft>
                      </a:pPr>
                      <a:r>
                        <a:rPr lang="en-US" sz="1000">
                          <a:effectLst/>
                        </a:rPr>
                        <a:t>8</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business_longitude</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The longitude value of the business location</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extLst>
                  <a:ext uri="{0D108BD9-81ED-4DB2-BD59-A6C34878D82A}">
                    <a16:rowId xmlns:a16="http://schemas.microsoft.com/office/drawing/2014/main" val="487323561"/>
                  </a:ext>
                </a:extLst>
              </a:tr>
              <a:tr h="205739">
                <a:tc>
                  <a:txBody>
                    <a:bodyPr/>
                    <a:lstStyle/>
                    <a:p>
                      <a:pPr marL="0" marR="0" algn="just">
                        <a:lnSpc>
                          <a:spcPct val="107000"/>
                        </a:lnSpc>
                        <a:spcBef>
                          <a:spcPts val="0"/>
                        </a:spcBef>
                        <a:spcAft>
                          <a:spcPts val="0"/>
                        </a:spcAft>
                      </a:pPr>
                      <a:r>
                        <a:rPr lang="en-US" sz="1000">
                          <a:effectLst/>
                        </a:rPr>
                        <a:t>9</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business_location</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A tuple of the latitude and the longitude values</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extLst>
                  <a:ext uri="{0D108BD9-81ED-4DB2-BD59-A6C34878D82A}">
                    <a16:rowId xmlns:a16="http://schemas.microsoft.com/office/drawing/2014/main" val="302099925"/>
                  </a:ext>
                </a:extLst>
              </a:tr>
              <a:tr h="205739">
                <a:tc>
                  <a:txBody>
                    <a:bodyPr/>
                    <a:lstStyle/>
                    <a:p>
                      <a:pPr marL="0" marR="0" algn="just">
                        <a:lnSpc>
                          <a:spcPct val="107000"/>
                        </a:lnSpc>
                        <a:spcBef>
                          <a:spcPts val="0"/>
                        </a:spcBef>
                        <a:spcAft>
                          <a:spcPts val="0"/>
                        </a:spcAft>
                      </a:pPr>
                      <a:r>
                        <a:rPr lang="en-US" sz="1000">
                          <a:effectLst/>
                        </a:rPr>
                        <a:t>10</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business_phone_no</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Business phone number</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extLst>
                  <a:ext uri="{0D108BD9-81ED-4DB2-BD59-A6C34878D82A}">
                    <a16:rowId xmlns:a16="http://schemas.microsoft.com/office/drawing/2014/main" val="1935257545"/>
                  </a:ext>
                </a:extLst>
              </a:tr>
              <a:tr h="205739">
                <a:tc>
                  <a:txBody>
                    <a:bodyPr/>
                    <a:lstStyle/>
                    <a:p>
                      <a:pPr marL="0" marR="0" algn="just">
                        <a:lnSpc>
                          <a:spcPct val="107000"/>
                        </a:lnSpc>
                        <a:spcBef>
                          <a:spcPts val="0"/>
                        </a:spcBef>
                        <a:spcAft>
                          <a:spcPts val="0"/>
                        </a:spcAft>
                      </a:pPr>
                      <a:r>
                        <a:rPr lang="en-US" sz="1000">
                          <a:effectLst/>
                        </a:rPr>
                        <a:t>11</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inspection_id</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Unique number that identifying the inspection case</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extLst>
                  <a:ext uri="{0D108BD9-81ED-4DB2-BD59-A6C34878D82A}">
                    <a16:rowId xmlns:a16="http://schemas.microsoft.com/office/drawing/2014/main" val="938466036"/>
                  </a:ext>
                </a:extLst>
              </a:tr>
              <a:tr h="205739">
                <a:tc>
                  <a:txBody>
                    <a:bodyPr/>
                    <a:lstStyle/>
                    <a:p>
                      <a:pPr marL="0" marR="0" algn="just">
                        <a:lnSpc>
                          <a:spcPct val="107000"/>
                        </a:lnSpc>
                        <a:spcBef>
                          <a:spcPts val="0"/>
                        </a:spcBef>
                        <a:spcAft>
                          <a:spcPts val="0"/>
                        </a:spcAft>
                      </a:pPr>
                      <a:r>
                        <a:rPr lang="en-US" sz="1000">
                          <a:effectLst/>
                        </a:rPr>
                        <a:t>12</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inspection_date</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The date of the inspection process</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extLst>
                  <a:ext uri="{0D108BD9-81ED-4DB2-BD59-A6C34878D82A}">
                    <a16:rowId xmlns:a16="http://schemas.microsoft.com/office/drawing/2014/main" val="332278247"/>
                  </a:ext>
                </a:extLst>
              </a:tr>
              <a:tr h="205739">
                <a:tc>
                  <a:txBody>
                    <a:bodyPr/>
                    <a:lstStyle/>
                    <a:p>
                      <a:pPr marL="0" marR="0" algn="just">
                        <a:lnSpc>
                          <a:spcPct val="107000"/>
                        </a:lnSpc>
                        <a:spcBef>
                          <a:spcPts val="0"/>
                        </a:spcBef>
                        <a:spcAft>
                          <a:spcPts val="0"/>
                        </a:spcAft>
                      </a:pPr>
                      <a:r>
                        <a:rPr lang="en-US" sz="1000">
                          <a:effectLst/>
                        </a:rPr>
                        <a:t>13</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inspection_score</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A score out of 100 that the business got after the inspection</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extLst>
                  <a:ext uri="{0D108BD9-81ED-4DB2-BD59-A6C34878D82A}">
                    <a16:rowId xmlns:a16="http://schemas.microsoft.com/office/drawing/2014/main" val="4221158495"/>
                  </a:ext>
                </a:extLst>
              </a:tr>
              <a:tr h="621131">
                <a:tc>
                  <a:txBody>
                    <a:bodyPr/>
                    <a:lstStyle/>
                    <a:p>
                      <a:pPr marL="0" marR="0" algn="just">
                        <a:lnSpc>
                          <a:spcPct val="107000"/>
                        </a:lnSpc>
                        <a:spcBef>
                          <a:spcPts val="0"/>
                        </a:spcBef>
                        <a:spcAft>
                          <a:spcPts val="0"/>
                        </a:spcAft>
                      </a:pPr>
                      <a:r>
                        <a:rPr lang="en-US" sz="1000">
                          <a:effectLst/>
                        </a:rPr>
                        <a:t>14</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inspection_type</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Routine-Unscheduled, complaint, New ownership, new construction or Non-inspection site visit.  In our dataset this feature has only one value “Routine-Unscheduled”</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extLst>
                  <a:ext uri="{0D108BD9-81ED-4DB2-BD59-A6C34878D82A}">
                    <a16:rowId xmlns:a16="http://schemas.microsoft.com/office/drawing/2014/main" val="249429277"/>
                  </a:ext>
                </a:extLst>
              </a:tr>
              <a:tr h="205739">
                <a:tc>
                  <a:txBody>
                    <a:bodyPr/>
                    <a:lstStyle/>
                    <a:p>
                      <a:pPr marL="0" marR="0" algn="just">
                        <a:lnSpc>
                          <a:spcPct val="107000"/>
                        </a:lnSpc>
                        <a:spcBef>
                          <a:spcPts val="0"/>
                        </a:spcBef>
                        <a:spcAft>
                          <a:spcPts val="0"/>
                        </a:spcAft>
                      </a:pPr>
                      <a:r>
                        <a:rPr lang="en-US" sz="1000">
                          <a:effectLst/>
                        </a:rPr>
                        <a:t>15</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violation_id</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Identification of violation </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extLst>
                  <a:ext uri="{0D108BD9-81ED-4DB2-BD59-A6C34878D82A}">
                    <a16:rowId xmlns:a16="http://schemas.microsoft.com/office/drawing/2014/main" val="1953507928"/>
                  </a:ext>
                </a:extLst>
              </a:tr>
              <a:tr h="205739">
                <a:tc>
                  <a:txBody>
                    <a:bodyPr/>
                    <a:lstStyle/>
                    <a:p>
                      <a:pPr marL="0" marR="0" algn="just">
                        <a:lnSpc>
                          <a:spcPct val="107000"/>
                        </a:lnSpc>
                        <a:spcBef>
                          <a:spcPts val="0"/>
                        </a:spcBef>
                        <a:spcAft>
                          <a:spcPts val="0"/>
                        </a:spcAft>
                      </a:pPr>
                      <a:r>
                        <a:rPr lang="en-US" sz="1000">
                          <a:effectLst/>
                        </a:rPr>
                        <a:t>16</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violation_description</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Short description of the violation if any</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extLst>
                  <a:ext uri="{0D108BD9-81ED-4DB2-BD59-A6C34878D82A}">
                    <a16:rowId xmlns:a16="http://schemas.microsoft.com/office/drawing/2014/main" val="2498280553"/>
                  </a:ext>
                </a:extLst>
              </a:tr>
              <a:tr h="411477">
                <a:tc>
                  <a:txBody>
                    <a:bodyPr/>
                    <a:lstStyle/>
                    <a:p>
                      <a:pPr marL="0" marR="0" algn="just">
                        <a:lnSpc>
                          <a:spcPct val="107000"/>
                        </a:lnSpc>
                        <a:spcBef>
                          <a:spcPts val="0"/>
                        </a:spcBef>
                        <a:spcAft>
                          <a:spcPts val="0"/>
                        </a:spcAft>
                      </a:pPr>
                      <a:r>
                        <a:rPr lang="en-US" sz="1000">
                          <a:effectLst/>
                        </a:rPr>
                        <a:t>17</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a:effectLst/>
                        </a:rPr>
                        <a:t>risk_category</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tc>
                  <a:txBody>
                    <a:bodyPr/>
                    <a:lstStyle/>
                    <a:p>
                      <a:pPr marL="0" marR="0" algn="just">
                        <a:lnSpc>
                          <a:spcPct val="107000"/>
                        </a:lnSpc>
                        <a:spcBef>
                          <a:spcPts val="0"/>
                        </a:spcBef>
                        <a:spcAft>
                          <a:spcPts val="0"/>
                        </a:spcAft>
                      </a:pPr>
                      <a:r>
                        <a:rPr lang="en-US" sz="1000" dirty="0">
                          <a:effectLst/>
                        </a:rPr>
                        <a:t>Classification of the business category, Low, Moderate or High Risk</a:t>
                      </a:r>
                      <a:endParaRPr lang="en-US" sz="900" dirty="0">
                        <a:effectLst/>
                        <a:latin typeface="Calibri" panose="020F0502020204030204" pitchFamily="34" charset="0"/>
                        <a:ea typeface="Calibri" panose="020F0502020204030204" pitchFamily="34" charset="0"/>
                        <a:cs typeface="Arial" panose="020B0604020202020204" pitchFamily="34" charset="0"/>
                      </a:endParaRPr>
                    </a:p>
                  </a:txBody>
                  <a:tcPr marL="55920" marR="55920" marT="0" marB="0"/>
                </a:tc>
                <a:extLst>
                  <a:ext uri="{0D108BD9-81ED-4DB2-BD59-A6C34878D82A}">
                    <a16:rowId xmlns:a16="http://schemas.microsoft.com/office/drawing/2014/main" val="1166803098"/>
                  </a:ext>
                </a:extLst>
              </a:tr>
            </a:tbl>
          </a:graphicData>
        </a:graphic>
      </p:graphicFrame>
    </p:spTree>
    <p:extLst>
      <p:ext uri="{BB962C8B-B14F-4D97-AF65-F5344CB8AC3E}">
        <p14:creationId xmlns:p14="http://schemas.microsoft.com/office/powerpoint/2010/main" val="86227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Methodology </a:t>
            </a:r>
            <a:endParaRPr lang="en-US" dirty="0"/>
          </a:p>
        </p:txBody>
      </p:sp>
      <p:graphicFrame>
        <p:nvGraphicFramePr>
          <p:cNvPr id="4" name="Diagram 3"/>
          <p:cNvGraphicFramePr/>
          <p:nvPr>
            <p:extLst>
              <p:ext uri="{D42A27DB-BD31-4B8C-83A1-F6EECF244321}">
                <p14:modId xmlns:p14="http://schemas.microsoft.com/office/powerpoint/2010/main" val="1509505788"/>
              </p:ext>
            </p:extLst>
          </p:nvPr>
        </p:nvGraphicFramePr>
        <p:xfrm>
          <a:off x="704850" y="1714500"/>
          <a:ext cx="10239375" cy="4448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08602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 </a:t>
            </a:r>
            <a:r>
              <a:rPr lang="en-US" b="1" dirty="0"/>
              <a:t>Inspections In general</a:t>
            </a:r>
            <a:endParaRPr lang="en-US" dirty="0"/>
          </a:p>
        </p:txBody>
      </p:sp>
      <p:pic>
        <p:nvPicPr>
          <p:cNvPr id="5" name="Picture 4"/>
          <p:cNvPicPr/>
          <p:nvPr/>
        </p:nvPicPr>
        <p:blipFill>
          <a:blip r:embed="rId2"/>
          <a:stretch>
            <a:fillRect/>
          </a:stretch>
        </p:blipFill>
        <p:spPr>
          <a:xfrm>
            <a:off x="1650682" y="2219959"/>
            <a:ext cx="8445818" cy="4266565"/>
          </a:xfrm>
          <a:prstGeom prst="rect">
            <a:avLst/>
          </a:prstGeom>
        </p:spPr>
      </p:pic>
    </p:spTree>
    <p:extLst>
      <p:ext uri="{BB962C8B-B14F-4D97-AF65-F5344CB8AC3E}">
        <p14:creationId xmlns:p14="http://schemas.microsoft.com/office/powerpoint/2010/main" val="35901379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 </a:t>
            </a:r>
            <a:r>
              <a:rPr lang="en-US" b="1" dirty="0"/>
              <a:t>Inspections by year</a:t>
            </a:r>
            <a:endParaRPr lang="en-US" dirty="0"/>
          </a:p>
        </p:txBody>
      </p:sp>
      <p:pic>
        <p:nvPicPr>
          <p:cNvPr id="4" name="Picture 3"/>
          <p:cNvPicPr/>
          <p:nvPr/>
        </p:nvPicPr>
        <p:blipFill>
          <a:blip r:embed="rId2"/>
          <a:stretch>
            <a:fillRect/>
          </a:stretch>
        </p:blipFill>
        <p:spPr>
          <a:xfrm>
            <a:off x="1247775" y="2155507"/>
            <a:ext cx="9799636" cy="4407218"/>
          </a:xfrm>
          <a:prstGeom prst="rect">
            <a:avLst/>
          </a:prstGeom>
        </p:spPr>
      </p:pic>
    </p:spTree>
    <p:extLst>
      <p:ext uri="{BB962C8B-B14F-4D97-AF65-F5344CB8AC3E}">
        <p14:creationId xmlns:p14="http://schemas.microsoft.com/office/powerpoint/2010/main" val="2569968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Violation description cloud words</a:t>
            </a:r>
            <a:endParaRPr lang="en-US" dirty="0"/>
          </a:p>
        </p:txBody>
      </p:sp>
      <p:pic>
        <p:nvPicPr>
          <p:cNvPr id="4" name="Picture 3"/>
          <p:cNvPicPr/>
          <p:nvPr/>
        </p:nvPicPr>
        <p:blipFill>
          <a:blip r:embed="rId2"/>
          <a:stretch>
            <a:fillRect/>
          </a:stretch>
        </p:blipFill>
        <p:spPr>
          <a:xfrm>
            <a:off x="1141413" y="2205672"/>
            <a:ext cx="9821862" cy="4290378"/>
          </a:xfrm>
          <a:prstGeom prst="rect">
            <a:avLst/>
          </a:prstGeom>
        </p:spPr>
      </p:pic>
    </p:spTree>
    <p:extLst>
      <p:ext uri="{BB962C8B-B14F-4D97-AF65-F5344CB8AC3E}">
        <p14:creationId xmlns:p14="http://schemas.microsoft.com/office/powerpoint/2010/main" val="2045278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visualize the locations of the inspections</a:t>
            </a:r>
          </a:p>
        </p:txBody>
      </p:sp>
      <p:sp>
        <p:nvSpPr>
          <p:cNvPr id="3" name="Content Placeholder 2"/>
          <p:cNvSpPr>
            <a:spLocks noGrp="1"/>
          </p:cNvSpPr>
          <p:nvPr>
            <p:ph idx="1"/>
          </p:nvPr>
        </p:nvSpPr>
        <p:spPr>
          <a:xfrm>
            <a:off x="1141412" y="2249488"/>
            <a:ext cx="9440863" cy="712788"/>
          </a:xfrm>
        </p:spPr>
        <p:txBody>
          <a:bodyPr>
            <a:normAutofit lnSpcReduction="10000"/>
          </a:bodyPr>
          <a:lstStyle/>
          <a:p>
            <a:r>
              <a:rPr lang="en-US" sz="1800" b="1" u="sng" dirty="0"/>
              <a:t>In order to reduce computational cost, let's just work with the first 100 inspections in this dataset</a:t>
            </a:r>
            <a:r>
              <a:rPr lang="en-US" sz="1800" dirty="0"/>
              <a:t>.</a:t>
            </a:r>
          </a:p>
        </p:txBody>
      </p:sp>
      <p:pic>
        <p:nvPicPr>
          <p:cNvPr id="4" name="Picture 3"/>
          <p:cNvPicPr/>
          <p:nvPr/>
        </p:nvPicPr>
        <p:blipFill>
          <a:blip r:embed="rId2"/>
          <a:stretch>
            <a:fillRect/>
          </a:stretch>
        </p:blipFill>
        <p:spPr>
          <a:xfrm>
            <a:off x="3429000" y="2804477"/>
            <a:ext cx="4616767" cy="3662998"/>
          </a:xfrm>
          <a:prstGeom prst="rect">
            <a:avLst/>
          </a:prstGeom>
        </p:spPr>
      </p:pic>
    </p:spTree>
    <p:extLst>
      <p:ext uri="{BB962C8B-B14F-4D97-AF65-F5344CB8AC3E}">
        <p14:creationId xmlns:p14="http://schemas.microsoft.com/office/powerpoint/2010/main" val="883371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 clean and categorized copy of the map of San Francisco</a:t>
            </a:r>
            <a:endParaRPr lang="en-US" dirty="0"/>
          </a:p>
        </p:txBody>
      </p:sp>
      <p:pic>
        <p:nvPicPr>
          <p:cNvPr id="4" name="Picture 3"/>
          <p:cNvPicPr/>
          <p:nvPr/>
        </p:nvPicPr>
        <p:blipFill>
          <a:blip r:embed="rId2"/>
          <a:stretch>
            <a:fillRect/>
          </a:stretch>
        </p:blipFill>
        <p:spPr>
          <a:xfrm>
            <a:off x="2217737" y="2097088"/>
            <a:ext cx="7164387" cy="4393883"/>
          </a:xfrm>
          <a:prstGeom prst="rect">
            <a:avLst/>
          </a:prstGeom>
        </p:spPr>
      </p:pic>
    </p:spTree>
    <p:extLst>
      <p:ext uri="{BB962C8B-B14F-4D97-AF65-F5344CB8AC3E}">
        <p14:creationId xmlns:p14="http://schemas.microsoft.com/office/powerpoint/2010/main" val="29317527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 clean and categorized copy of the map of San Francisco (more details)</a:t>
            </a:r>
            <a:endParaRPr lang="en-US" dirty="0"/>
          </a:p>
        </p:txBody>
      </p:sp>
      <p:pic>
        <p:nvPicPr>
          <p:cNvPr id="4" name="Picture 3"/>
          <p:cNvPicPr/>
          <p:nvPr/>
        </p:nvPicPr>
        <p:blipFill>
          <a:blip r:embed="rId2"/>
          <a:stretch>
            <a:fillRect/>
          </a:stretch>
        </p:blipFill>
        <p:spPr>
          <a:xfrm>
            <a:off x="3038475" y="2260916"/>
            <a:ext cx="5257800" cy="4368484"/>
          </a:xfrm>
          <a:prstGeom prst="rect">
            <a:avLst/>
          </a:prstGeom>
        </p:spPr>
      </p:pic>
    </p:spTree>
    <p:extLst>
      <p:ext uri="{BB962C8B-B14F-4D97-AF65-F5344CB8AC3E}">
        <p14:creationId xmlns:p14="http://schemas.microsoft.com/office/powerpoint/2010/main" val="4047144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Inspection activities days of the week</a:t>
            </a:r>
            <a:endParaRPr lang="en-US" dirty="0"/>
          </a:p>
        </p:txBody>
      </p:sp>
      <p:pic>
        <p:nvPicPr>
          <p:cNvPr id="4" name="Picture 3"/>
          <p:cNvPicPr/>
          <p:nvPr/>
        </p:nvPicPr>
        <p:blipFill>
          <a:blip r:embed="rId2"/>
          <a:stretch>
            <a:fillRect/>
          </a:stretch>
        </p:blipFill>
        <p:spPr>
          <a:xfrm>
            <a:off x="1304925" y="2427922"/>
            <a:ext cx="9934575" cy="3687128"/>
          </a:xfrm>
          <a:prstGeom prst="rect">
            <a:avLst/>
          </a:prstGeom>
        </p:spPr>
      </p:pic>
    </p:spTree>
    <p:extLst>
      <p:ext uri="{BB962C8B-B14F-4D97-AF65-F5344CB8AC3E}">
        <p14:creationId xmlns:p14="http://schemas.microsoft.com/office/powerpoint/2010/main" val="17620085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Machine learning Algorithm results</a:t>
            </a:r>
          </a:p>
        </p:txBody>
      </p:sp>
      <p:graphicFrame>
        <p:nvGraphicFramePr>
          <p:cNvPr id="4" name="Table 3"/>
          <p:cNvGraphicFramePr>
            <a:graphicFrameLocks noGrp="1"/>
          </p:cNvGraphicFramePr>
          <p:nvPr>
            <p:extLst>
              <p:ext uri="{D42A27DB-BD31-4B8C-83A1-F6EECF244321}">
                <p14:modId xmlns:p14="http://schemas.microsoft.com/office/powerpoint/2010/main" val="3265790190"/>
              </p:ext>
            </p:extLst>
          </p:nvPr>
        </p:nvGraphicFramePr>
        <p:xfrm>
          <a:off x="1590675" y="2460149"/>
          <a:ext cx="8696325" cy="3131028"/>
        </p:xfrm>
        <a:graphic>
          <a:graphicData uri="http://schemas.openxmlformats.org/drawingml/2006/table">
            <a:tbl>
              <a:tblPr firstRow="1" firstCol="1" bandRow="1">
                <a:tableStyleId>{5C22544A-7EE6-4342-B048-85BDC9FD1C3A}</a:tableStyleId>
              </a:tblPr>
              <a:tblGrid>
                <a:gridCol w="2394977">
                  <a:extLst>
                    <a:ext uri="{9D8B030D-6E8A-4147-A177-3AD203B41FA5}">
                      <a16:colId xmlns:a16="http://schemas.microsoft.com/office/drawing/2014/main" val="4083210275"/>
                    </a:ext>
                  </a:extLst>
                </a:gridCol>
                <a:gridCol w="3152999">
                  <a:extLst>
                    <a:ext uri="{9D8B030D-6E8A-4147-A177-3AD203B41FA5}">
                      <a16:colId xmlns:a16="http://schemas.microsoft.com/office/drawing/2014/main" val="1750170246"/>
                    </a:ext>
                  </a:extLst>
                </a:gridCol>
                <a:gridCol w="3148349">
                  <a:extLst>
                    <a:ext uri="{9D8B030D-6E8A-4147-A177-3AD203B41FA5}">
                      <a16:colId xmlns:a16="http://schemas.microsoft.com/office/drawing/2014/main" val="2065077214"/>
                    </a:ext>
                  </a:extLst>
                </a:gridCol>
              </a:tblGrid>
              <a:tr h="782757">
                <a:tc>
                  <a:txBody>
                    <a:bodyPr/>
                    <a:lstStyle/>
                    <a:p>
                      <a:pPr marL="0" marR="0" algn="just">
                        <a:lnSpc>
                          <a:spcPct val="200000"/>
                        </a:lnSpc>
                        <a:spcBef>
                          <a:spcPts val="0"/>
                        </a:spcBef>
                        <a:spcAft>
                          <a:spcPts val="0"/>
                        </a:spcAft>
                      </a:pPr>
                      <a:r>
                        <a:rPr lang="en-US" sz="2000">
                          <a:effectLst/>
                        </a:rPr>
                        <a:t> </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200000"/>
                        </a:lnSpc>
                        <a:spcBef>
                          <a:spcPts val="0"/>
                        </a:spcBef>
                        <a:spcAft>
                          <a:spcPts val="0"/>
                        </a:spcAft>
                      </a:pPr>
                      <a:r>
                        <a:rPr lang="en-US" sz="2000">
                          <a:effectLst/>
                        </a:rPr>
                        <a:t>kNN</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200000"/>
                        </a:lnSpc>
                        <a:spcBef>
                          <a:spcPts val="0"/>
                        </a:spcBef>
                        <a:spcAft>
                          <a:spcPts val="0"/>
                        </a:spcAft>
                      </a:pPr>
                      <a:r>
                        <a:rPr lang="en-US" sz="2000">
                          <a:effectLst/>
                        </a:rPr>
                        <a:t>LR</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62395824"/>
                  </a:ext>
                </a:extLst>
              </a:tr>
              <a:tr h="782757">
                <a:tc>
                  <a:txBody>
                    <a:bodyPr/>
                    <a:lstStyle/>
                    <a:p>
                      <a:pPr marL="0" marR="0" algn="just">
                        <a:lnSpc>
                          <a:spcPct val="200000"/>
                        </a:lnSpc>
                        <a:spcBef>
                          <a:spcPts val="0"/>
                        </a:spcBef>
                        <a:spcAft>
                          <a:spcPts val="0"/>
                        </a:spcAft>
                      </a:pPr>
                      <a:r>
                        <a:rPr lang="en-US" sz="2000">
                          <a:effectLst/>
                        </a:rPr>
                        <a:t>Train set Accuracy</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200000"/>
                        </a:lnSpc>
                        <a:spcBef>
                          <a:spcPts val="0"/>
                        </a:spcBef>
                        <a:spcAft>
                          <a:spcPts val="0"/>
                        </a:spcAft>
                      </a:pPr>
                      <a:r>
                        <a:rPr lang="en-US" sz="2000">
                          <a:effectLst/>
                        </a:rPr>
                        <a:t>0.6332499518953242</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200000"/>
                        </a:lnSpc>
                        <a:spcBef>
                          <a:spcPts val="0"/>
                        </a:spcBef>
                        <a:spcAft>
                          <a:spcPts val="0"/>
                        </a:spcAft>
                      </a:pPr>
                      <a:r>
                        <a:rPr lang="en-US" sz="2000">
                          <a:effectLst/>
                        </a:rPr>
                        <a:t>0.5358860881277661</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819209028"/>
                  </a:ext>
                </a:extLst>
              </a:tr>
              <a:tr h="782757">
                <a:tc>
                  <a:txBody>
                    <a:bodyPr/>
                    <a:lstStyle/>
                    <a:p>
                      <a:pPr marL="0" marR="0" algn="just">
                        <a:lnSpc>
                          <a:spcPct val="200000"/>
                        </a:lnSpc>
                        <a:spcBef>
                          <a:spcPts val="0"/>
                        </a:spcBef>
                        <a:spcAft>
                          <a:spcPts val="0"/>
                        </a:spcAft>
                      </a:pPr>
                      <a:r>
                        <a:rPr lang="en-US" sz="2000">
                          <a:effectLst/>
                        </a:rPr>
                        <a:t>Test set Accuracy</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200000"/>
                        </a:lnSpc>
                        <a:spcBef>
                          <a:spcPts val="0"/>
                        </a:spcBef>
                        <a:spcAft>
                          <a:spcPts val="0"/>
                        </a:spcAft>
                      </a:pPr>
                      <a:r>
                        <a:rPr lang="en-US" sz="2000">
                          <a:effectLst/>
                        </a:rPr>
                        <a:t>0.5215384615384615</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200000"/>
                        </a:lnSpc>
                        <a:spcBef>
                          <a:spcPts val="0"/>
                        </a:spcBef>
                        <a:spcAft>
                          <a:spcPts val="0"/>
                        </a:spcAft>
                      </a:pPr>
                      <a:r>
                        <a:rPr lang="en-US" sz="2000">
                          <a:effectLst/>
                        </a:rPr>
                        <a:t>0.5246153846153846</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709259364"/>
                  </a:ext>
                </a:extLst>
              </a:tr>
              <a:tr h="782757">
                <a:tc>
                  <a:txBody>
                    <a:bodyPr/>
                    <a:lstStyle/>
                    <a:p>
                      <a:pPr marL="0" marR="0" algn="just">
                        <a:lnSpc>
                          <a:spcPct val="200000"/>
                        </a:lnSpc>
                        <a:spcBef>
                          <a:spcPts val="0"/>
                        </a:spcBef>
                        <a:spcAft>
                          <a:spcPts val="0"/>
                        </a:spcAft>
                      </a:pPr>
                      <a:r>
                        <a:rPr lang="en-US" sz="2000" dirty="0">
                          <a:effectLst/>
                        </a:rPr>
                        <a:t>F1  Accuracy</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200000"/>
                        </a:lnSpc>
                        <a:spcBef>
                          <a:spcPts val="0"/>
                        </a:spcBef>
                        <a:spcAft>
                          <a:spcPts val="0"/>
                        </a:spcAft>
                      </a:pPr>
                      <a:r>
                        <a:rPr lang="en-US" sz="2000">
                          <a:effectLst/>
                        </a:rPr>
                        <a:t>0.47777033142713926</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200000"/>
                        </a:lnSpc>
                        <a:spcBef>
                          <a:spcPts val="0"/>
                        </a:spcBef>
                        <a:spcAft>
                          <a:spcPts val="0"/>
                        </a:spcAft>
                      </a:pPr>
                      <a:r>
                        <a:rPr lang="en-US" sz="2000" dirty="0">
                          <a:effectLst/>
                        </a:rPr>
                        <a:t>0.36103702553753003</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789014860"/>
                  </a:ext>
                </a:extLst>
              </a:tr>
            </a:tbl>
          </a:graphicData>
        </a:graphic>
      </p:graphicFrame>
    </p:spTree>
    <p:extLst>
      <p:ext uri="{BB962C8B-B14F-4D97-AF65-F5344CB8AC3E}">
        <p14:creationId xmlns:p14="http://schemas.microsoft.com/office/powerpoint/2010/main" val="24330337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Foursquare to analyze the neighborhood of the inspected businesses</a:t>
            </a:r>
          </a:p>
        </p:txBody>
      </p:sp>
      <p:sp>
        <p:nvSpPr>
          <p:cNvPr id="3" name="Content Placeholder 2"/>
          <p:cNvSpPr>
            <a:spLocks noGrp="1"/>
          </p:cNvSpPr>
          <p:nvPr>
            <p:ph idx="1"/>
          </p:nvPr>
        </p:nvSpPr>
        <p:spPr>
          <a:xfrm>
            <a:off x="1141412" y="2249487"/>
            <a:ext cx="9905999" cy="1046163"/>
          </a:xfrm>
        </p:spPr>
        <p:txBody>
          <a:bodyPr/>
          <a:lstStyle/>
          <a:p>
            <a:r>
              <a:rPr lang="en-US" b="1" u="sng" dirty="0"/>
              <a:t>In order to reduce computational cost, let's just work with the first 100 inspections in this dataset</a:t>
            </a:r>
            <a:endParaRPr lang="en-US" dirty="0"/>
          </a:p>
        </p:txBody>
      </p:sp>
      <p:sp>
        <p:nvSpPr>
          <p:cNvPr id="4" name="Rectangle 3"/>
          <p:cNvSpPr/>
          <p:nvPr/>
        </p:nvSpPr>
        <p:spPr>
          <a:xfrm>
            <a:off x="1352549" y="3295650"/>
            <a:ext cx="9134475" cy="830997"/>
          </a:xfrm>
          <a:prstGeom prst="rect">
            <a:avLst/>
          </a:prstGeom>
        </p:spPr>
        <p:txBody>
          <a:bodyPr wrap="square">
            <a:spAutoFit/>
          </a:bodyPr>
          <a:lstStyle/>
          <a:p>
            <a:r>
              <a:rPr lang="en-US" sz="2400" b="1" dirty="0">
                <a:latin typeface="Times New Roman" panose="02020603050405020304" pitchFamily="18" charset="0"/>
                <a:ea typeface="Times New Roman" panose="02020603050405020304" pitchFamily="18" charset="0"/>
              </a:rPr>
              <a:t>We choose “OMNI S.F. Hotel” it is Low Risk business inspection and it got 96 score </a:t>
            </a:r>
            <a:endParaRPr lang="en-US" sz="2400" b="1" dirty="0"/>
          </a:p>
        </p:txBody>
      </p:sp>
    </p:spTree>
    <p:extLst>
      <p:ext uri="{BB962C8B-B14F-4D97-AF65-F5344CB8AC3E}">
        <p14:creationId xmlns:p14="http://schemas.microsoft.com/office/powerpoint/2010/main" val="8736371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ea typeface="Times New Roman" panose="02020603050405020304" pitchFamily="18" charset="0"/>
              </a:rPr>
              <a:t>“OMNI S.F. Hotel” Venues data and location</a:t>
            </a:r>
            <a:endParaRPr lang="en-US" dirty="0"/>
          </a:p>
        </p:txBody>
      </p:sp>
      <p:pic>
        <p:nvPicPr>
          <p:cNvPr id="4" name="Picture 3"/>
          <p:cNvPicPr/>
          <p:nvPr/>
        </p:nvPicPr>
        <p:blipFill>
          <a:blip r:embed="rId2"/>
          <a:stretch>
            <a:fillRect/>
          </a:stretch>
        </p:blipFill>
        <p:spPr>
          <a:xfrm>
            <a:off x="1362075" y="2298065"/>
            <a:ext cx="6275070" cy="4398010"/>
          </a:xfrm>
          <a:prstGeom prst="rect">
            <a:avLst/>
          </a:prstGeom>
        </p:spPr>
      </p:pic>
      <p:pic>
        <p:nvPicPr>
          <p:cNvPr id="5" name="Picture 4"/>
          <p:cNvPicPr/>
          <p:nvPr/>
        </p:nvPicPr>
        <p:blipFill>
          <a:blip r:embed="rId3"/>
          <a:stretch>
            <a:fillRect/>
          </a:stretch>
        </p:blipFill>
        <p:spPr>
          <a:xfrm>
            <a:off x="7809865" y="2411730"/>
            <a:ext cx="3686810" cy="3284220"/>
          </a:xfrm>
          <a:prstGeom prst="rect">
            <a:avLst/>
          </a:prstGeom>
        </p:spPr>
      </p:pic>
    </p:spTree>
    <p:extLst>
      <p:ext uri="{BB962C8B-B14F-4D97-AF65-F5344CB8AC3E}">
        <p14:creationId xmlns:p14="http://schemas.microsoft.com/office/powerpoint/2010/main" val="23364966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Foursquare API gives us we are able to only show one tip</a:t>
            </a:r>
          </a:p>
        </p:txBody>
      </p:sp>
      <p:sp>
        <p:nvSpPr>
          <p:cNvPr id="3" name="Content Placeholder 2"/>
          <p:cNvSpPr>
            <a:spLocks noGrp="1"/>
          </p:cNvSpPr>
          <p:nvPr>
            <p:ph idx="1"/>
          </p:nvPr>
        </p:nvSpPr>
        <p:spPr>
          <a:xfrm>
            <a:off x="1141412" y="2249487"/>
            <a:ext cx="9905999" cy="569913"/>
          </a:xfrm>
        </p:spPr>
        <p:txBody>
          <a:bodyPr/>
          <a:lstStyle/>
          <a:p>
            <a:r>
              <a:rPr lang="en-US" dirty="0"/>
              <a:t>Example of one tip</a:t>
            </a:r>
          </a:p>
        </p:txBody>
      </p:sp>
      <p:pic>
        <p:nvPicPr>
          <p:cNvPr id="4" name="Picture 3"/>
          <p:cNvPicPr/>
          <p:nvPr/>
        </p:nvPicPr>
        <p:blipFill>
          <a:blip r:embed="rId2"/>
          <a:stretch>
            <a:fillRect/>
          </a:stretch>
        </p:blipFill>
        <p:spPr>
          <a:xfrm>
            <a:off x="5051740" y="1918334"/>
            <a:ext cx="5787709" cy="4577715"/>
          </a:xfrm>
          <a:prstGeom prst="rect">
            <a:avLst/>
          </a:prstGeom>
        </p:spPr>
      </p:pic>
    </p:spTree>
    <p:extLst>
      <p:ext uri="{BB962C8B-B14F-4D97-AF65-F5344CB8AC3E}">
        <p14:creationId xmlns:p14="http://schemas.microsoft.com/office/powerpoint/2010/main" val="33147992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Foursquare User</a:t>
            </a:r>
          </a:p>
        </p:txBody>
      </p:sp>
      <p:sp>
        <p:nvSpPr>
          <p:cNvPr id="3" name="Content Placeholder 2"/>
          <p:cNvSpPr>
            <a:spLocks noGrp="1"/>
          </p:cNvSpPr>
          <p:nvPr>
            <p:ph idx="1"/>
          </p:nvPr>
        </p:nvSpPr>
        <p:spPr/>
        <p:txBody>
          <a:bodyPr/>
          <a:lstStyle/>
          <a:p>
            <a:r>
              <a:rPr lang="en-US" dirty="0"/>
              <a:t>We also examine the user who made that tip and we found that:</a:t>
            </a:r>
          </a:p>
          <a:p>
            <a:pPr lvl="1"/>
            <a:r>
              <a:rPr lang="en-US" dirty="0"/>
              <a:t>She is female</a:t>
            </a:r>
          </a:p>
          <a:p>
            <a:pPr lvl="1"/>
            <a:r>
              <a:rPr lang="en-US" dirty="0"/>
              <a:t>Here first name is Nadia and Last Name: </a:t>
            </a:r>
            <a:r>
              <a:rPr lang="en-US" dirty="0" err="1"/>
              <a:t>IssaBella</a:t>
            </a:r>
            <a:r>
              <a:rPr lang="en-US" dirty="0"/>
              <a:t>, Home City: Vaughan, Canada</a:t>
            </a:r>
          </a:p>
          <a:p>
            <a:pPr lvl="1"/>
            <a:r>
              <a:rPr lang="en-US" dirty="0"/>
              <a:t>Nadia is very active in Foursquare as we can see she has 598 tips. Let us explore them.</a:t>
            </a:r>
          </a:p>
          <a:p>
            <a:endParaRPr lang="en-US" dirty="0"/>
          </a:p>
        </p:txBody>
      </p:sp>
    </p:spTree>
    <p:extLst>
      <p:ext uri="{BB962C8B-B14F-4D97-AF65-F5344CB8AC3E}">
        <p14:creationId xmlns:p14="http://schemas.microsoft.com/office/powerpoint/2010/main" val="37111993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Conclusion</a:t>
            </a:r>
            <a:endParaRPr lang="en-US" dirty="0"/>
          </a:p>
        </p:txBody>
      </p:sp>
      <p:sp>
        <p:nvSpPr>
          <p:cNvPr id="3" name="Content Placeholder 2"/>
          <p:cNvSpPr>
            <a:spLocks noGrp="1"/>
          </p:cNvSpPr>
          <p:nvPr>
            <p:ph idx="1"/>
          </p:nvPr>
        </p:nvSpPr>
        <p:spPr/>
        <p:txBody>
          <a:bodyPr/>
          <a:lstStyle/>
          <a:p>
            <a:r>
              <a:rPr lang="en-US" dirty="0"/>
              <a:t>To promote health, stakeholders in the healthcare industry need to continuously innovate to make the process more efficient. In food inspection, technology can be used to predict a likely critical violation through the use of data analytics instead of inspecting every joint blindly given the lack of enough manpower for this. The data used to predict critical violation include weather, crime and inspection data. Afterward, places data e.g. Foursquare is used to locate the food establishment for physical inspection</a:t>
            </a:r>
          </a:p>
        </p:txBody>
      </p:sp>
    </p:spTree>
    <p:extLst>
      <p:ext uri="{BB962C8B-B14F-4D97-AF65-F5344CB8AC3E}">
        <p14:creationId xmlns:p14="http://schemas.microsoft.com/office/powerpoint/2010/main" val="47808929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docProps/app.xml><?xml version="1.0" encoding="utf-8"?>
<Properties xmlns="http://schemas.openxmlformats.org/officeDocument/2006/extended-properties" xmlns:vt="http://schemas.openxmlformats.org/officeDocument/2006/docPropsVTypes">
  <Template>TM04033919[[fn=Circuit]]</Template>
  <TotalTime>44</TotalTime>
  <Words>862</Words>
  <Application>Microsoft Office PowerPoint</Application>
  <PresentationFormat>Widescreen</PresentationFormat>
  <Paragraphs>109</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Times New Roman</vt:lpstr>
      <vt:lpstr>Tw Cen MT</vt:lpstr>
      <vt:lpstr>Circuit</vt:lpstr>
      <vt:lpstr>SF Food Inspection Use Case</vt:lpstr>
      <vt:lpstr>Introduction</vt:lpstr>
      <vt:lpstr>Objectives</vt:lpstr>
      <vt:lpstr>Data Description</vt:lpstr>
      <vt:lpstr>Data Description</vt:lpstr>
      <vt:lpstr>Methodology </vt:lpstr>
      <vt:lpstr>Results: Inspections In general</vt:lpstr>
      <vt:lpstr>Results: Inspections by year</vt:lpstr>
      <vt:lpstr>Violation description cloud words</vt:lpstr>
      <vt:lpstr>visualize the locations of the inspections</vt:lpstr>
      <vt:lpstr>A clean and categorized copy of the map of San Francisco</vt:lpstr>
      <vt:lpstr>A clean and categorized copy of the map of San Francisco (more details)</vt:lpstr>
      <vt:lpstr>Inspection activities days of the week</vt:lpstr>
      <vt:lpstr>Machine learning Algorithm results</vt:lpstr>
      <vt:lpstr>using Foursquare to analyze the neighborhood of the inspected businesses</vt:lpstr>
      <vt:lpstr>“OMNI S.F. Hotel” Venues data and location</vt:lpstr>
      <vt:lpstr>Foursquare API gives us we are able to only show one tip</vt:lpstr>
      <vt:lpstr>Foursquare User</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 The Battle of Neighborhoods (Week 2)-Food Inspection Use Case</dc:title>
  <dc:creator>Mohammed Al-Qurishi</dc:creator>
  <cp:lastModifiedBy>Aditya Chowdhury</cp:lastModifiedBy>
  <cp:revision>31</cp:revision>
  <dcterms:created xsi:type="dcterms:W3CDTF">2018-11-10T16:12:56Z</dcterms:created>
  <dcterms:modified xsi:type="dcterms:W3CDTF">2020-05-12T16:49:35Z</dcterms:modified>
</cp:coreProperties>
</file>